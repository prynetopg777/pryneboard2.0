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219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tech_futuristic_operations_control_center_v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46888"/>
            <a:ext cx="12191695" cy="6858000"/>
          </a:xfrm>
          <a:prstGeom prst="rect">
            <a:avLst/>
          </a:prstGeom>
          <a:solidFill>
            <a:srgbClr val="071525">
              <a:alpha val="82000"/>
            </a:srgbClr>
          </a:solidFill>
          <a:ln w="12700">
            <a:solidFill>
              <a:srgbClr val="071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071525">
              <a:alpha val="97000"/>
            </a:srgbClr>
          </a:solidFill>
          <a:ln w="12700">
            <a:solidFill>
              <a:srgbClr val="071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1152144"/>
            <a:ext cx="525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Agent Pilot for CX Operations &amp; Assurance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85800" y="2560320"/>
            <a:ext cx="4892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sharp, low-risk pilot roadmap for Globe Telecom — written for business, CX, operations, risk, and technology stakeholders.</a:t>
            </a:r>
            <a:endParaRPr lang="en-US" sz="1360" dirty="0"/>
          </a:p>
        </p:txBody>
      </p:sp>
      <p:sp>
        <p:nvSpPr>
          <p:cNvPr id="7" name="Shape 4"/>
          <p:cNvSpPr/>
          <p:nvPr/>
        </p:nvSpPr>
        <p:spPr>
          <a:xfrm>
            <a:off x="685800" y="3401568"/>
            <a:ext cx="3794760" cy="274320"/>
          </a:xfrm>
          <a:prstGeom prst="roundRect">
            <a:avLst>
              <a:gd name="adj" fmla="val 33333"/>
            </a:avLst>
          </a:prstGeom>
          <a:solidFill>
            <a:srgbClr val="00C2A8">
              <a:alpha val="94000"/>
            </a:srgbClr>
          </a:solidFill>
          <a:ln w="12700">
            <a:solidFill>
              <a:srgbClr val="00C2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58952" y="3465576"/>
            <a:ext cx="364845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PLATFORM-AGNOSTIC • HUMAN-IN-THE-LOOP • AUDIT-READY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685800" y="4069080"/>
            <a:ext cx="4709160" cy="1078992"/>
          </a:xfrm>
          <a:prstGeom prst="roundRect">
            <a:avLst>
              <a:gd name="adj" fmla="val 6780"/>
            </a:avLst>
          </a:prstGeom>
          <a:solidFill>
            <a:srgbClr val="0B1F33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50392" y="4206240"/>
            <a:ext cx="1280160" cy="274320"/>
          </a:xfrm>
          <a:prstGeom prst="roundRect">
            <a:avLst>
              <a:gd name="adj" fmla="val 33333"/>
            </a:avLst>
          </a:prstGeom>
          <a:solidFill>
            <a:srgbClr val="2F80ED">
              <a:alpha val="94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23544" y="4270248"/>
            <a:ext cx="113385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Plain-English idea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868680" y="4599432"/>
            <a:ext cx="43434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AI that helps people make better decisions — not AI that acts alone on customers or accounts.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Springboard × Globe Telecom | AI CX operations &amp; assurance — simplified stakeholder deck</a:t>
            </a:r>
            <a:endParaRPr lang="en-US" sz="630" dirty="0"/>
          </a:p>
        </p:txBody>
      </p:sp>
      <p:sp>
        <p:nvSpPr>
          <p:cNvPr id="14" name="Text 11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40" dirty="0"/>
          </a:p>
        </p:txBody>
      </p:sp>
      <p:pic>
        <p:nvPicPr>
          <p:cNvPr id="17" name="Picture 16" descr="Springboard | Manila">
            <a:extLst>
              <a:ext uri="{FF2B5EF4-FFF2-40B4-BE49-F238E27FC236}">
                <a16:creationId xmlns:a16="http://schemas.microsoft.com/office/drawing/2014/main" id="{B107F7BC-28A0-2577-5F26-301688363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6604" y="549656"/>
            <a:ext cx="857504" cy="857504"/>
          </a:xfrm>
          <a:prstGeom prst="rect">
            <a:avLst/>
          </a:prstGeom>
        </p:spPr>
      </p:pic>
      <p:pic>
        <p:nvPicPr>
          <p:cNvPr id="18" name="Picture 17" descr="Globe Philippines Logo">
            <a:extLst>
              <a:ext uri="{FF2B5EF4-FFF2-40B4-BE49-F238E27FC236}">
                <a16:creationId xmlns:a16="http://schemas.microsoft.com/office/drawing/2014/main" id="{FC256292-99FA-F90B-8849-2973DFCBF2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4914" y="537464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5"/>
          </a:solidFill>
          <a:ln w="12700">
            <a:solidFill>
              <a:srgbClr val="071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recommendation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 with assistive and assurance workflows before moving to higher-autonomy automation.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417320" cy="0"/>
          </a:xfrm>
          <a:prstGeom prst="line">
            <a:avLst/>
          </a:prstGeom>
          <a:noFill/>
          <a:ln w="254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4663440" cy="1325880"/>
          </a:xfrm>
          <a:prstGeom prst="roundRect">
            <a:avLst>
              <a:gd name="adj" fmla="val 5517"/>
            </a:avLst>
          </a:prstGeom>
          <a:solidFill>
            <a:srgbClr val="0B1F33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0392" y="1554480"/>
            <a:ext cx="1280160" cy="274320"/>
          </a:xfrm>
          <a:prstGeom prst="roundRect">
            <a:avLst>
              <a:gd name="adj" fmla="val 33333"/>
            </a:avLst>
          </a:prstGeom>
          <a:solidFill>
            <a:srgbClr val="00C2A8">
              <a:alpha val="94000"/>
            </a:srgbClr>
          </a:solidFill>
          <a:ln w="12700">
            <a:solidFill>
              <a:srgbClr val="00C2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23544" y="1618488"/>
            <a:ext cx="113385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first move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868680" y="1947672"/>
            <a:ext cx="4297680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CX Assurance and Agent Assist as the core 16-week pilot. Use Network–CX Correlation as a parallel telco-specific discovery track.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306324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0392" y="3227832"/>
            <a:ext cx="384048" cy="384048"/>
          </a:xfrm>
          <a:prstGeom prst="ellipse">
            <a:avLst/>
          </a:prstGeom>
          <a:solidFill>
            <a:srgbClr val="00C2A8">
              <a:alpha val="9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6112" y="3319272"/>
            <a:ext cx="292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1380744" y="3209544"/>
            <a:ext cx="3383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CX Assurance Analyst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1380744" y="3483864"/>
            <a:ext cx="4023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customer interactions at scale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1380744" y="3721608"/>
            <a:ext cx="4251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risk: starts with historical, read-only data.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309360" y="306324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73952" y="3227832"/>
            <a:ext cx="384048" cy="384048"/>
          </a:xfrm>
          <a:prstGeom prst="ellipse">
            <a:avLst/>
          </a:prstGeom>
          <a:solidFill>
            <a:srgbClr val="2F80ED">
              <a:alpha val="9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19672" y="3319272"/>
            <a:ext cx="292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7004304" y="3209544"/>
            <a:ext cx="3383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Assist + Knowledge Copilot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7004304" y="3483864"/>
            <a:ext cx="4023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agents answer faster and more consistently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7004304" y="3721608"/>
            <a:ext cx="4251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agent reviews before anything reaches a customer.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85800" y="4315968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50392" y="4480560"/>
            <a:ext cx="384048" cy="384048"/>
          </a:xfrm>
          <a:prstGeom prst="ellipse">
            <a:avLst/>
          </a:prstGeom>
          <a:solidFill>
            <a:srgbClr val="FF9F43">
              <a:alpha val="9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6112" y="4572000"/>
            <a:ext cx="292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1380744" y="4462272"/>
            <a:ext cx="3383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Network–CX Correlation Agent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80744" y="4736592"/>
            <a:ext cx="4023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Links customer complaints to network or service issues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1380744" y="4974336"/>
            <a:ext cx="4251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integration needed, but highly differentiated for telco.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6309360" y="4315968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73952" y="4480560"/>
            <a:ext cx="384048" cy="384048"/>
          </a:xfrm>
          <a:prstGeom prst="ellipse">
            <a:avLst/>
          </a:prstGeom>
          <a:solidFill>
            <a:srgbClr val="A8B3FF">
              <a:alpha val="9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19672" y="4572000"/>
            <a:ext cx="292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7004304" y="4462272"/>
            <a:ext cx="3383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Back-office Case Resolution Copilot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7004304" y="4736592"/>
            <a:ext cx="40233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resolve complex cases with policy checks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7004304" y="4974336"/>
            <a:ext cx="42519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as wave 2 after controls are proven.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Springboard × Globe Telecom | AI CX operations &amp; assurance — simplified stakeholder deck</a:t>
            </a:r>
            <a:endParaRPr lang="en-US" sz="630" dirty="0"/>
          </a:p>
        </p:txBody>
      </p:sp>
      <p:sp>
        <p:nvSpPr>
          <p:cNvPr id="35" name="Text 33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40" dirty="0"/>
          </a:p>
        </p:txBody>
      </p:sp>
      <p:pic>
        <p:nvPicPr>
          <p:cNvPr id="36" name="Picture 35" descr="Springboard | Manila">
            <a:extLst>
              <a:ext uri="{FF2B5EF4-FFF2-40B4-BE49-F238E27FC236}">
                <a16:creationId xmlns:a16="http://schemas.microsoft.com/office/drawing/2014/main" id="{BAD22FA4-4625-98C6-0B23-B23282F1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604" y="549656"/>
            <a:ext cx="857504" cy="857504"/>
          </a:xfrm>
          <a:prstGeom prst="rect">
            <a:avLst/>
          </a:prstGeom>
        </p:spPr>
      </p:pic>
      <p:pic>
        <p:nvPicPr>
          <p:cNvPr id="37" name="Picture 36" descr="Globe Philippines Logo">
            <a:extLst>
              <a:ext uri="{FF2B5EF4-FFF2-40B4-BE49-F238E27FC236}">
                <a16:creationId xmlns:a16="http://schemas.microsoft.com/office/drawing/2014/main" id="{47392146-CEDC-C5FB-59BA-DDD0647AA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4914" y="537464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futuristic_isometric_3d_infographic_scene_batch_4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5">
              <a:alpha val="55000"/>
            </a:srgbClr>
          </a:solidFill>
          <a:ln w="12700">
            <a:solidFill>
              <a:srgbClr val="071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“AI agent” means in this pilot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548640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of the agent as a governed digital analyst/copilot, not an unsupervised robot.</a:t>
            </a:r>
            <a:endParaRPr lang="en-US" sz="930" dirty="0"/>
          </a:p>
        </p:txBody>
      </p:sp>
      <p:sp>
        <p:nvSpPr>
          <p:cNvPr id="6" name="Shape 3"/>
          <p:cNvSpPr/>
          <p:nvPr/>
        </p:nvSpPr>
        <p:spPr>
          <a:xfrm>
            <a:off x="548640" y="1170432"/>
            <a:ext cx="1417320" cy="0"/>
          </a:xfrm>
          <a:prstGeom prst="line">
            <a:avLst/>
          </a:prstGeom>
          <a:noFill/>
          <a:ln w="254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3232" y="1847088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14400" y="2029968"/>
            <a:ext cx="384048" cy="384048"/>
          </a:xfrm>
          <a:prstGeom prst="ellipse">
            <a:avLst/>
          </a:prstGeom>
          <a:solidFill>
            <a:srgbClr val="00C2A8">
              <a:alpha val="9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0120" y="2121408"/>
            <a:ext cx="292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1389888" y="2057400"/>
            <a:ext cx="1234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41832" y="2606040"/>
            <a:ext cx="1783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messages, calls, tickets, knowledge articles, network events</a:t>
            </a:r>
            <a:endParaRPr lang="en-US" sz="890" dirty="0"/>
          </a:p>
        </p:txBody>
      </p:sp>
      <p:sp>
        <p:nvSpPr>
          <p:cNvPr id="12" name="Shape 9"/>
          <p:cNvSpPr/>
          <p:nvPr/>
        </p:nvSpPr>
        <p:spPr>
          <a:xfrm>
            <a:off x="2953512" y="2596896"/>
            <a:ext cx="502920" cy="0"/>
          </a:xfrm>
          <a:prstGeom prst="line">
            <a:avLst/>
          </a:prstGeom>
          <a:noFill/>
          <a:ln w="16510">
            <a:solidFill>
              <a:srgbClr val="27D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529584" y="1847088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730752" y="2029968"/>
            <a:ext cx="384048" cy="384048"/>
          </a:xfrm>
          <a:prstGeom prst="ellipse">
            <a:avLst/>
          </a:prstGeom>
          <a:solidFill>
            <a:srgbClr val="2F80ED">
              <a:alpha val="9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776472" y="2121408"/>
            <a:ext cx="292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4206240" y="2057400"/>
            <a:ext cx="1234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758184" y="2606040"/>
            <a:ext cx="1783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classifies issues, finds patterns, checks policies, ranks confidence</a:t>
            </a:r>
            <a:endParaRPr lang="en-US" sz="890" dirty="0"/>
          </a:p>
        </p:txBody>
      </p:sp>
      <p:sp>
        <p:nvSpPr>
          <p:cNvPr id="18" name="Shape 15"/>
          <p:cNvSpPr/>
          <p:nvPr/>
        </p:nvSpPr>
        <p:spPr>
          <a:xfrm>
            <a:off x="5769864" y="2596896"/>
            <a:ext cx="502920" cy="0"/>
          </a:xfrm>
          <a:prstGeom prst="line">
            <a:avLst/>
          </a:prstGeom>
          <a:noFill/>
          <a:ln w="16510">
            <a:solidFill>
              <a:srgbClr val="27D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345936" y="1847088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547104" y="2029968"/>
            <a:ext cx="384048" cy="384048"/>
          </a:xfrm>
          <a:prstGeom prst="ellipse">
            <a:avLst/>
          </a:prstGeom>
          <a:solidFill>
            <a:srgbClr val="FF9F43">
              <a:alpha val="9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92824" y="2121408"/>
            <a:ext cx="292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7022592" y="2057400"/>
            <a:ext cx="1234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574536" y="2606040"/>
            <a:ext cx="1783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summaries, next actions, escalation paths, coaching insights</a:t>
            </a:r>
            <a:endParaRPr lang="en-US" sz="890" dirty="0"/>
          </a:p>
        </p:txBody>
      </p:sp>
      <p:sp>
        <p:nvSpPr>
          <p:cNvPr id="24" name="Shape 21"/>
          <p:cNvSpPr/>
          <p:nvPr/>
        </p:nvSpPr>
        <p:spPr>
          <a:xfrm>
            <a:off x="8586216" y="2596896"/>
            <a:ext cx="502920" cy="0"/>
          </a:xfrm>
          <a:prstGeom prst="line">
            <a:avLst/>
          </a:prstGeom>
          <a:noFill/>
          <a:ln w="16510">
            <a:solidFill>
              <a:srgbClr val="27D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9162288" y="1847088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9363456" y="2029968"/>
            <a:ext cx="384048" cy="384048"/>
          </a:xfrm>
          <a:prstGeom prst="ellipse">
            <a:avLst/>
          </a:prstGeom>
          <a:solidFill>
            <a:srgbClr val="A8B3FF">
              <a:alpha val="9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409176" y="2121408"/>
            <a:ext cx="292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9838944" y="2057400"/>
            <a:ext cx="1234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390888" y="2606040"/>
            <a:ext cx="1783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evidence, sources, human decisions, audit trail</a:t>
            </a:r>
            <a:endParaRPr lang="en-US" sz="890" dirty="0"/>
          </a:p>
        </p:txBody>
      </p:sp>
      <p:sp>
        <p:nvSpPr>
          <p:cNvPr id="30" name="Shape 27"/>
          <p:cNvSpPr/>
          <p:nvPr/>
        </p:nvSpPr>
        <p:spPr>
          <a:xfrm>
            <a:off x="1143000" y="4315968"/>
            <a:ext cx="9875520" cy="1005840"/>
          </a:xfrm>
          <a:prstGeom prst="roundRect">
            <a:avLst>
              <a:gd name="adj" fmla="val 7273"/>
            </a:avLst>
          </a:prstGeom>
          <a:solidFill>
            <a:srgbClr val="0B1F3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307592" y="4453128"/>
            <a:ext cx="1280160" cy="274320"/>
          </a:xfrm>
          <a:prstGeom prst="roundRect">
            <a:avLst>
              <a:gd name="adj" fmla="val 33333"/>
            </a:avLst>
          </a:prstGeom>
          <a:solidFill>
            <a:srgbClr val="FF9F43">
              <a:alpha val="94000"/>
            </a:srgbClr>
          </a:solidFill>
          <a:ln w="12700">
            <a:solidFill>
              <a:srgbClr val="FF9F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380744" y="4517136"/>
            <a:ext cx="113385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design rule</a:t>
            </a:r>
            <a:endParaRPr lang="en-US" sz="680" dirty="0"/>
          </a:p>
        </p:txBody>
      </p:sp>
      <p:sp>
        <p:nvSpPr>
          <p:cNvPr id="33" name="Text 30"/>
          <p:cNvSpPr/>
          <p:nvPr/>
        </p:nvSpPr>
        <p:spPr>
          <a:xfrm>
            <a:off x="1325880" y="4846320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the pilot, the AI can analyze, suggest, and draft. A person still approves customer-facing messages, account changes, refunds, credits, and escalations.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48640" y="6537960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Springboard × Globe Telecom | AI CX operations &amp; assurance — simplified stakeholder deck</a:t>
            </a:r>
            <a:endParaRPr lang="en-US" sz="630" dirty="0"/>
          </a:p>
        </p:txBody>
      </p:sp>
      <p:sp>
        <p:nvSpPr>
          <p:cNvPr id="35" name="Text 32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40" dirty="0"/>
          </a:p>
        </p:txBody>
      </p:sp>
      <p:pic>
        <p:nvPicPr>
          <p:cNvPr id="36" name="Picture 35" descr="Springboard | Manila">
            <a:extLst>
              <a:ext uri="{FF2B5EF4-FFF2-40B4-BE49-F238E27FC236}">
                <a16:creationId xmlns:a16="http://schemas.microsoft.com/office/drawing/2014/main" id="{3D54BE43-791B-237F-BF80-3162DE357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6604" y="549656"/>
            <a:ext cx="857504" cy="857504"/>
          </a:xfrm>
          <a:prstGeom prst="rect">
            <a:avLst/>
          </a:prstGeom>
        </p:spPr>
      </p:pic>
      <p:pic>
        <p:nvPicPr>
          <p:cNvPr id="37" name="Picture 36" descr="Globe Philippines Logo">
            <a:extLst>
              <a:ext uri="{FF2B5EF4-FFF2-40B4-BE49-F238E27FC236}">
                <a16:creationId xmlns:a16="http://schemas.microsoft.com/office/drawing/2014/main" id="{8D02E96C-88B2-92AA-D439-CE8AD98C71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4914" y="537464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5"/>
          </a:solidFill>
          <a:ln w="12700">
            <a:solidFill>
              <a:srgbClr val="071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on-ramp is practical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creates business value while limiting operational, privacy, and brand risk.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417320" cy="0"/>
          </a:xfrm>
          <a:prstGeom prst="line">
            <a:avLst/>
          </a:prstGeom>
          <a:noFill/>
          <a:ln w="254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627632"/>
            <a:ext cx="3154680" cy="1463040"/>
          </a:xfrm>
          <a:prstGeom prst="roundRect">
            <a:avLst>
              <a:gd name="adj" fmla="val 5000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828800"/>
            <a:ext cx="384048" cy="384048"/>
          </a:xfrm>
          <a:prstGeom prst="ellipse">
            <a:avLst/>
          </a:prstGeom>
          <a:solidFill>
            <a:srgbClr val="00C2A8">
              <a:alpha val="9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1920240"/>
            <a:ext cx="292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417320" y="1810512"/>
            <a:ext cx="2011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value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87552" y="2359152"/>
            <a:ext cx="26060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Improves quality, speed, consistency, root-cause insight, and coaching.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526280" y="1627632"/>
            <a:ext cx="3154680" cy="1463040"/>
          </a:xfrm>
          <a:prstGeom prst="roundRect">
            <a:avLst>
              <a:gd name="adj" fmla="val 5000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90872" y="1828800"/>
            <a:ext cx="384048" cy="384048"/>
          </a:xfrm>
          <a:prstGeom prst="ellipse">
            <a:avLst/>
          </a:prstGeom>
          <a:solidFill>
            <a:srgbClr val="2F80ED">
              <a:alpha val="9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36592" y="1920240"/>
            <a:ext cx="292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5212080" y="1810512"/>
            <a:ext cx="2011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risk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82312" y="2359152"/>
            <a:ext cx="26060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Starts with internal users and historical data; no autonomous customer action.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8321040" y="1627632"/>
            <a:ext cx="3154680" cy="1463040"/>
          </a:xfrm>
          <a:prstGeom prst="roundRect">
            <a:avLst>
              <a:gd name="adj" fmla="val 5000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85632" y="1828800"/>
            <a:ext cx="384048" cy="384048"/>
          </a:xfrm>
          <a:prstGeom prst="ellipse">
            <a:avLst/>
          </a:prstGeom>
          <a:solidFill>
            <a:srgbClr val="FF9F43">
              <a:alpha val="9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31352" y="1920240"/>
            <a:ext cx="292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9006840" y="1810512"/>
            <a:ext cx="2011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controls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77072" y="2359152"/>
            <a:ext cx="26060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privacy, audit, and approval controls can support later automation.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777240" y="3858768"/>
            <a:ext cx="2103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bundle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7240" y="434340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00C2A8">
              <a:alpha val="94000"/>
            </a:srgbClr>
          </a:solidFill>
          <a:ln w="12700">
            <a:solidFill>
              <a:srgbClr val="00C2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0392" y="4407408"/>
            <a:ext cx="85953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1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777240" y="4736592"/>
            <a:ext cx="1920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CX Assurance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5102352"/>
            <a:ext cx="2743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reviews customer interactions for quality and risk.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80560" y="434340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2F80ED">
              <a:alpha val="94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53712" y="4407408"/>
            <a:ext cx="85953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2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4480560" y="4736592"/>
            <a:ext cx="1920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Assist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80560" y="5102352"/>
            <a:ext cx="2743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supports live agents with approved answers and summaries.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183880" y="434340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FF9F43">
              <a:alpha val="94000"/>
            </a:srgbClr>
          </a:solidFill>
          <a:ln w="12700">
            <a:solidFill>
              <a:srgbClr val="FF9F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57032" y="4407408"/>
            <a:ext cx="85953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track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8183880" y="4736592"/>
            <a:ext cx="1920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Network–CX Correlation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83880" y="5102352"/>
            <a:ext cx="2743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finds links between complaints and service/network conditions.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Springboard × Globe Telecom | AI CX operations &amp; assurance — simplified stakeholder deck</a:t>
            </a:r>
            <a:endParaRPr lang="en-US" sz="630" dirty="0"/>
          </a:p>
        </p:txBody>
      </p:sp>
      <p:sp>
        <p:nvSpPr>
          <p:cNvPr id="35" name="Text 33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40" dirty="0"/>
          </a:p>
        </p:txBody>
      </p:sp>
      <p:pic>
        <p:nvPicPr>
          <p:cNvPr id="36" name="Picture 35" descr="Springboard | Manila">
            <a:extLst>
              <a:ext uri="{FF2B5EF4-FFF2-40B4-BE49-F238E27FC236}">
                <a16:creationId xmlns:a16="http://schemas.microsoft.com/office/drawing/2014/main" id="{E2E3DE92-4D30-0A47-B500-75FAD0DA7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604" y="549656"/>
            <a:ext cx="857504" cy="857504"/>
          </a:xfrm>
          <a:prstGeom prst="rect">
            <a:avLst/>
          </a:prstGeom>
        </p:spPr>
      </p:pic>
      <p:pic>
        <p:nvPicPr>
          <p:cNvPr id="37" name="Picture 36" descr="Globe Philippines Logo">
            <a:extLst>
              <a:ext uri="{FF2B5EF4-FFF2-40B4-BE49-F238E27FC236}">
                <a16:creationId xmlns:a16="http://schemas.microsoft.com/office/drawing/2014/main" id="{FACF4212-745D-03AE-E49A-00FA3E994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4914" y="537464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5"/>
          </a:solidFill>
          <a:ln w="12700">
            <a:solidFill>
              <a:srgbClr val="071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Use-case prioritization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starting point = high business value + lower implementation complexity.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417320" cy="0"/>
          </a:xfrm>
          <a:prstGeom prst="line">
            <a:avLst/>
          </a:prstGeom>
          <a:noFill/>
          <a:ln w="254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51560" y="5577840"/>
            <a:ext cx="9921240" cy="0"/>
          </a:xfrm>
          <a:prstGeom prst="line">
            <a:avLst/>
          </a:prstGeom>
          <a:noFill/>
          <a:ln w="19050">
            <a:solidFill>
              <a:srgbClr val="355A7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" y="5577840"/>
            <a:ext cx="0" cy="0"/>
          </a:xfrm>
          <a:prstGeom prst="line">
            <a:avLst/>
          </a:prstGeom>
          <a:noFill/>
          <a:ln w="19050">
            <a:solidFill>
              <a:srgbClr val="355A7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0" y="5797296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Easier to pilot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 rot="16200000">
            <a:off x="228600" y="3154680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value / impact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8046720" y="1389888"/>
            <a:ext cx="1325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first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28800" y="1389888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later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915400" y="1737360"/>
            <a:ext cx="1005840" cy="1005840"/>
          </a:xfrm>
          <a:prstGeom prst="ellipse">
            <a:avLst/>
          </a:prstGeom>
          <a:solidFill>
            <a:srgbClr val="00C2A8">
              <a:alpha val="93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15400" y="2148840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8595360" y="2852928"/>
            <a:ext cx="16916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CX Assurance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001000" y="3246120"/>
            <a:ext cx="914400" cy="914400"/>
          </a:xfrm>
          <a:prstGeom prst="ellipse">
            <a:avLst/>
          </a:prstGeom>
          <a:solidFill>
            <a:srgbClr val="2F80ED">
              <a:alpha val="93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01000" y="3611880"/>
            <a:ext cx="914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7680960" y="4270248"/>
            <a:ext cx="1600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Assist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715000" y="2103120"/>
            <a:ext cx="960120" cy="960120"/>
          </a:xfrm>
          <a:prstGeom prst="ellipse">
            <a:avLst/>
          </a:prstGeom>
          <a:solidFill>
            <a:srgbClr val="FF9F43">
              <a:alpha val="93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15000" y="2491740"/>
            <a:ext cx="960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5394960" y="3172968"/>
            <a:ext cx="1645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Network–CX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17720" y="3493008"/>
            <a:ext cx="914400" cy="914400"/>
          </a:xfrm>
          <a:prstGeom prst="ellipse">
            <a:avLst/>
          </a:prstGeom>
          <a:solidFill>
            <a:srgbClr val="A8B3FF">
              <a:alpha val="93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17720" y="3858768"/>
            <a:ext cx="914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4297680" y="4517136"/>
            <a:ext cx="1600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Back-office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834640" y="2487168"/>
            <a:ext cx="822960" cy="822960"/>
          </a:xfrm>
          <a:prstGeom prst="ellipse">
            <a:avLst/>
          </a:prstGeom>
          <a:solidFill>
            <a:srgbClr val="FF5C5C">
              <a:alpha val="93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834640" y="2807208"/>
            <a:ext cx="8229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2514600" y="3419856"/>
            <a:ext cx="15087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508760" y="6080760"/>
            <a:ext cx="886968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673352" y="6156960"/>
            <a:ext cx="1280160" cy="274320"/>
          </a:xfrm>
          <a:prstGeom prst="roundRect">
            <a:avLst>
              <a:gd name="adj" fmla="val 33333"/>
            </a:avLst>
          </a:prstGeom>
          <a:solidFill>
            <a:srgbClr val="2F80ED">
              <a:alpha val="94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746504" y="6251448"/>
            <a:ext cx="113385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read this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3108960" y="62179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cases near the upper-right are attractive pilot candidates: they matter to the business and are relatively easier to start.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6537960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Springboard × Globe Telecom | AI CX operations &amp; assurance — simplified stakeholder deck</a:t>
            </a:r>
            <a:endParaRPr lang="en-US" sz="630" dirty="0"/>
          </a:p>
        </p:txBody>
      </p:sp>
      <p:sp>
        <p:nvSpPr>
          <p:cNvPr id="32" name="Text 30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40" dirty="0"/>
          </a:p>
        </p:txBody>
      </p:sp>
      <p:pic>
        <p:nvPicPr>
          <p:cNvPr id="33" name="Picture 32" descr="Springboard | Manila">
            <a:extLst>
              <a:ext uri="{FF2B5EF4-FFF2-40B4-BE49-F238E27FC236}">
                <a16:creationId xmlns:a16="http://schemas.microsoft.com/office/drawing/2014/main" id="{AE5441A9-C992-CA5B-0D34-0D3872F67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604" y="549656"/>
            <a:ext cx="857504" cy="857504"/>
          </a:xfrm>
          <a:prstGeom prst="rect">
            <a:avLst/>
          </a:prstGeom>
        </p:spPr>
      </p:pic>
      <p:pic>
        <p:nvPicPr>
          <p:cNvPr id="34" name="Picture 33" descr="Globe Philippines Logo">
            <a:extLst>
              <a:ext uri="{FF2B5EF4-FFF2-40B4-BE49-F238E27FC236}">
                <a16:creationId xmlns:a16="http://schemas.microsoft.com/office/drawing/2014/main" id="{60C2D4D5-4254-BBA0-B96F-B713991182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4914" y="537464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futuristic_tech_operations_cont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5">
              <a:alpha val="62000"/>
            </a:srgbClr>
          </a:solidFill>
          <a:ln w="12700">
            <a:solidFill>
              <a:srgbClr val="071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1 — AI CX Assurance Analyst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548640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helps Quality Assurance teams check more interactions, faster and more consistently.</a:t>
            </a:r>
            <a:endParaRPr lang="en-US" sz="930" dirty="0"/>
          </a:p>
        </p:txBody>
      </p:sp>
      <p:sp>
        <p:nvSpPr>
          <p:cNvPr id="6" name="Shape 3"/>
          <p:cNvSpPr/>
          <p:nvPr/>
        </p:nvSpPr>
        <p:spPr>
          <a:xfrm>
            <a:off x="548640" y="1170432"/>
            <a:ext cx="1417320" cy="0"/>
          </a:xfrm>
          <a:prstGeom prst="line">
            <a:avLst/>
          </a:prstGeom>
          <a:noFill/>
          <a:ln w="254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85800" y="1389888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0B1F33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50392" y="1527048"/>
            <a:ext cx="1280160" cy="274320"/>
          </a:xfrm>
          <a:prstGeom prst="roundRect">
            <a:avLst>
              <a:gd name="adj" fmla="val 33333"/>
            </a:avLst>
          </a:prstGeom>
          <a:solidFill>
            <a:srgbClr val="00C2A8">
              <a:alpha val="94000"/>
            </a:srgbClr>
          </a:solidFill>
          <a:ln w="12700">
            <a:solidFill>
              <a:srgbClr val="00C2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23544" y="1591056"/>
            <a:ext cx="113385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Plain-English version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868680" y="1920240"/>
            <a:ext cx="443484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manually reviewing a small sample of calls and chats, AI reviews many more interactions and flags the ones humans should inspect.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2788920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can detect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8680" y="3246120"/>
            <a:ext cx="4434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Incorrect or incomplete resolution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868680" y="3593592"/>
            <a:ext cx="4434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Missing required disclosures or risky language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868680" y="3941064"/>
            <a:ext cx="4434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Repeat-contact drivers and escalation issues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868680" y="4288536"/>
            <a:ext cx="4434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Billing, SIM, roaming, broadband, and network complaint patterns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617220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bits, explained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199632" y="1847088"/>
            <a:ext cx="566928" cy="274320"/>
          </a:xfrm>
          <a:prstGeom prst="roundRect">
            <a:avLst>
              <a:gd name="adj" fmla="val 33333"/>
            </a:avLst>
          </a:prstGeom>
          <a:solidFill>
            <a:srgbClr val="00C2A8">
              <a:alpha val="94000"/>
            </a:srgbClr>
          </a:solidFill>
          <a:ln w="12700">
            <a:solidFill>
              <a:srgbClr val="00C2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72784" y="1911096"/>
            <a:ext cx="420624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</a:t>
            </a:r>
            <a:endParaRPr lang="en-US" sz="680" dirty="0"/>
          </a:p>
        </p:txBody>
      </p:sp>
      <p:sp>
        <p:nvSpPr>
          <p:cNvPr id="19" name="Text 16"/>
          <p:cNvSpPr/>
          <p:nvPr/>
        </p:nvSpPr>
        <p:spPr>
          <a:xfrm>
            <a:off x="6903720" y="1874520"/>
            <a:ext cx="3931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Assurance: checking whether service meets standards.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6199632" y="2450592"/>
            <a:ext cx="566928" cy="274320"/>
          </a:xfrm>
          <a:prstGeom prst="roundRect">
            <a:avLst>
              <a:gd name="adj" fmla="val 33333"/>
            </a:avLst>
          </a:prstGeom>
          <a:solidFill>
            <a:srgbClr val="2F80ED">
              <a:alpha val="94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272784" y="2514600"/>
            <a:ext cx="420624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ASR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6903720" y="2478024"/>
            <a:ext cx="3931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Speech Recognition: turns calls into text.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6199632" y="3054096"/>
            <a:ext cx="566928" cy="274320"/>
          </a:xfrm>
          <a:prstGeom prst="roundRect">
            <a:avLst>
              <a:gd name="adj" fmla="val 33333"/>
            </a:avLst>
          </a:prstGeom>
          <a:solidFill>
            <a:srgbClr val="FF9F43">
              <a:alpha val="94000"/>
            </a:srgbClr>
          </a:solidFill>
          <a:ln w="12700">
            <a:solidFill>
              <a:srgbClr val="FF9F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272784" y="3118104"/>
            <a:ext cx="420624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PII</a:t>
            </a:r>
            <a:endParaRPr lang="en-US" sz="680" dirty="0"/>
          </a:p>
        </p:txBody>
      </p:sp>
      <p:sp>
        <p:nvSpPr>
          <p:cNvPr id="25" name="Text 22"/>
          <p:cNvSpPr/>
          <p:nvPr/>
        </p:nvSpPr>
        <p:spPr>
          <a:xfrm>
            <a:off x="6903720" y="3081528"/>
            <a:ext cx="3931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Personally Identifiable Information: data such as names, numbers, IDs.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6199632" y="3657600"/>
            <a:ext cx="566928" cy="274320"/>
          </a:xfrm>
          <a:prstGeom prst="roundRect">
            <a:avLst>
              <a:gd name="adj" fmla="val 33333"/>
            </a:avLst>
          </a:prstGeom>
          <a:solidFill>
            <a:srgbClr val="A8B3FF">
              <a:alpha val="94000"/>
            </a:srgbClr>
          </a:solidFill>
          <a:ln w="12700">
            <a:solidFill>
              <a:srgbClr val="A8B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272784" y="3721608"/>
            <a:ext cx="420624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Scorecard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6903720" y="3685032"/>
            <a:ext cx="3931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agreed checklist used to rate quality and compliance.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6263640" y="4800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7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5–20x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6263640" y="5193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QA coverage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183880" y="48006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C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30–50%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8183880" y="5193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QA cycle time</a:t>
            </a:r>
            <a:endParaRPr lang="en-US" sz="820" dirty="0"/>
          </a:p>
        </p:txBody>
      </p:sp>
      <p:sp>
        <p:nvSpPr>
          <p:cNvPr id="33" name="Text 30"/>
          <p:cNvSpPr/>
          <p:nvPr/>
        </p:nvSpPr>
        <p:spPr>
          <a:xfrm>
            <a:off x="10149840" y="4800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9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≥80%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10149840" y="51937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AI-human agreement after calibration</a:t>
            </a:r>
            <a:endParaRPr lang="en-US" sz="820" dirty="0"/>
          </a:p>
        </p:txBody>
      </p:sp>
      <p:sp>
        <p:nvSpPr>
          <p:cNvPr id="35" name="Text 32"/>
          <p:cNvSpPr/>
          <p:nvPr/>
        </p:nvSpPr>
        <p:spPr>
          <a:xfrm>
            <a:off x="548640" y="6537960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Springboard × Globe Telecom | AI CX operations &amp; assurance — simplified stakeholder deck</a:t>
            </a:r>
            <a:endParaRPr lang="en-US" sz="630" dirty="0"/>
          </a:p>
        </p:txBody>
      </p:sp>
      <p:sp>
        <p:nvSpPr>
          <p:cNvPr id="36" name="Text 33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tech_modern_office_call_center_scene_wide_batch_2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5">
              <a:alpha val="68000"/>
            </a:srgbClr>
          </a:solidFill>
          <a:ln w="12700">
            <a:solidFill>
              <a:srgbClr val="071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2 — Agent Assist + Knowledge Copilot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548640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supports frontline agents with summaries, approved answers, and next-best-action guidance.</a:t>
            </a:r>
            <a:endParaRPr lang="en-US" sz="930" dirty="0"/>
          </a:p>
        </p:txBody>
      </p:sp>
      <p:sp>
        <p:nvSpPr>
          <p:cNvPr id="6" name="Shape 3"/>
          <p:cNvSpPr/>
          <p:nvPr/>
        </p:nvSpPr>
        <p:spPr>
          <a:xfrm>
            <a:off x="548640" y="1170432"/>
            <a:ext cx="1417320" cy="0"/>
          </a:xfrm>
          <a:prstGeom prst="line">
            <a:avLst/>
          </a:prstGeom>
          <a:noFill/>
          <a:ln w="254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85800" y="1389888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0B1F33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50392" y="1527048"/>
            <a:ext cx="1280160" cy="274320"/>
          </a:xfrm>
          <a:prstGeom prst="roundRect">
            <a:avLst>
              <a:gd name="adj" fmla="val 33333"/>
            </a:avLst>
          </a:prstGeom>
          <a:solidFill>
            <a:srgbClr val="2F80ED">
              <a:alpha val="94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23544" y="1591056"/>
            <a:ext cx="113385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Plain-English version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868680" y="1920240"/>
            <a:ext cx="461772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stays in control. AI prepares the answer, shows the source, and suggests the next step. The human edits and sends.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2788920"/>
            <a:ext cx="2743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moments of help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60120" y="3246120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Summarize the customer’s history and current issue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960120" y="3593592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Find the right policy or troubleshooting step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960120" y="3941064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Draft a response in English, Tagalog, or Taglish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960120" y="4288536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Write post-call notes and disposition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6309360" y="1417320"/>
            <a:ext cx="2926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bits, explained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327648" y="1828800"/>
            <a:ext cx="658368" cy="274320"/>
          </a:xfrm>
          <a:prstGeom prst="roundRect">
            <a:avLst>
              <a:gd name="adj" fmla="val 33333"/>
            </a:avLst>
          </a:prstGeom>
          <a:solidFill>
            <a:srgbClr val="00C2A8">
              <a:alpha val="94000"/>
            </a:srgbClr>
          </a:solidFill>
          <a:ln w="12700">
            <a:solidFill>
              <a:srgbClr val="00C2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0" y="1892808"/>
            <a:ext cx="512064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</a:t>
            </a:r>
            <a:endParaRPr lang="en-US" sz="680" dirty="0"/>
          </a:p>
        </p:txBody>
      </p:sp>
      <p:sp>
        <p:nvSpPr>
          <p:cNvPr id="19" name="Text 16"/>
          <p:cNvSpPr/>
          <p:nvPr/>
        </p:nvSpPr>
        <p:spPr>
          <a:xfrm>
            <a:off x="7114032" y="1856232"/>
            <a:ext cx="3931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Relationship Management: system with customer/case history.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6327648" y="2432304"/>
            <a:ext cx="658368" cy="274320"/>
          </a:xfrm>
          <a:prstGeom prst="roundRect">
            <a:avLst>
              <a:gd name="adj" fmla="val 33333"/>
            </a:avLst>
          </a:prstGeom>
          <a:solidFill>
            <a:srgbClr val="2F80ED">
              <a:alpha val="94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0" y="2496312"/>
            <a:ext cx="512064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7114032" y="2459736"/>
            <a:ext cx="3931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Retrieval-Augmented Generation: AI answers using approved documents.</a:t>
            </a:r>
            <a:endParaRPr lang="en-US" sz="860" dirty="0"/>
          </a:p>
        </p:txBody>
      </p:sp>
      <p:sp>
        <p:nvSpPr>
          <p:cNvPr id="23" name="Shape 20"/>
          <p:cNvSpPr/>
          <p:nvPr/>
        </p:nvSpPr>
        <p:spPr>
          <a:xfrm>
            <a:off x="6327648" y="3035808"/>
            <a:ext cx="658368" cy="274320"/>
          </a:xfrm>
          <a:prstGeom prst="roundRect">
            <a:avLst>
              <a:gd name="adj" fmla="val 33333"/>
            </a:avLst>
          </a:prstGeom>
          <a:solidFill>
            <a:srgbClr val="FF9F43">
              <a:alpha val="94000"/>
            </a:srgbClr>
          </a:solidFill>
          <a:ln w="12700">
            <a:solidFill>
              <a:srgbClr val="FF9F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00800" y="3099816"/>
            <a:ext cx="512064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</a:t>
            </a:r>
            <a:endParaRPr lang="en-US" sz="680" dirty="0"/>
          </a:p>
        </p:txBody>
      </p:sp>
      <p:sp>
        <p:nvSpPr>
          <p:cNvPr id="25" name="Text 22"/>
          <p:cNvSpPr/>
          <p:nvPr/>
        </p:nvSpPr>
        <p:spPr>
          <a:xfrm>
            <a:off x="7114032" y="3063240"/>
            <a:ext cx="3931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Language Model: AI model that reads, writes, and reasons with text.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6327648" y="3639312"/>
            <a:ext cx="658368" cy="274320"/>
          </a:xfrm>
          <a:prstGeom prst="roundRect">
            <a:avLst>
              <a:gd name="adj" fmla="val 33333"/>
            </a:avLst>
          </a:prstGeom>
          <a:solidFill>
            <a:srgbClr val="A8B3FF">
              <a:alpha val="94000"/>
            </a:srgbClr>
          </a:solidFill>
          <a:ln w="12700">
            <a:solidFill>
              <a:srgbClr val="A8B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400800" y="3703320"/>
            <a:ext cx="512064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HITL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7114032" y="3666744"/>
            <a:ext cx="3931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Human-in-the-loop: person approves before output is used.</a:t>
            </a:r>
            <a:endParaRPr lang="en-US" sz="860" dirty="0"/>
          </a:p>
        </p:txBody>
      </p:sp>
      <p:sp>
        <p:nvSpPr>
          <p:cNvPr id="29" name="Text 26"/>
          <p:cNvSpPr/>
          <p:nvPr/>
        </p:nvSpPr>
        <p:spPr>
          <a:xfrm>
            <a:off x="6355080" y="478231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7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10–20%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6355080" y="51755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Handle Time reduction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275320" y="47823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C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20–40%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8275320" y="51755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After-Call Work reduction</a:t>
            </a:r>
            <a:endParaRPr lang="en-US" sz="820" dirty="0"/>
          </a:p>
        </p:txBody>
      </p:sp>
      <p:sp>
        <p:nvSpPr>
          <p:cNvPr id="33" name="Text 30"/>
          <p:cNvSpPr/>
          <p:nvPr/>
        </p:nvSpPr>
        <p:spPr>
          <a:xfrm>
            <a:off x="10241280" y="47823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9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&lt;3–5%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10241280" y="517550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answer target</a:t>
            </a:r>
            <a:endParaRPr lang="en-US" sz="820" dirty="0"/>
          </a:p>
        </p:txBody>
      </p:sp>
      <p:sp>
        <p:nvSpPr>
          <p:cNvPr id="35" name="Text 32"/>
          <p:cNvSpPr/>
          <p:nvPr/>
        </p:nvSpPr>
        <p:spPr>
          <a:xfrm>
            <a:off x="548640" y="6537960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Springboard × Globe Telecom | AI CX operations &amp; assurance — simplified stakeholder deck</a:t>
            </a:r>
            <a:endParaRPr lang="en-US" sz="630" dirty="0"/>
          </a:p>
        </p:txBody>
      </p:sp>
      <p:sp>
        <p:nvSpPr>
          <p:cNvPr id="36" name="Text 33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40" dirty="0"/>
          </a:p>
        </p:txBody>
      </p:sp>
      <p:pic>
        <p:nvPicPr>
          <p:cNvPr id="37" name="Picture 36" descr="Springboard | Manila">
            <a:extLst>
              <a:ext uri="{FF2B5EF4-FFF2-40B4-BE49-F238E27FC236}">
                <a16:creationId xmlns:a16="http://schemas.microsoft.com/office/drawing/2014/main" id="{70BB0FC8-B7DC-1999-3D2F-13A8F1D2AE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6604" y="549656"/>
            <a:ext cx="857504" cy="857504"/>
          </a:xfrm>
          <a:prstGeom prst="rect">
            <a:avLst/>
          </a:prstGeom>
        </p:spPr>
      </p:pic>
      <p:pic>
        <p:nvPicPr>
          <p:cNvPr id="38" name="Picture 37" descr="Globe Philippines Logo">
            <a:extLst>
              <a:ext uri="{FF2B5EF4-FFF2-40B4-BE49-F238E27FC236}">
                <a16:creationId xmlns:a16="http://schemas.microsoft.com/office/drawing/2014/main" id="{9C20C007-B466-8327-B7EA-2A64A832DA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4914" y="537464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etailed_futuristic_tech_visualization_scene_a_batch_3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5">
              <a:alpha val="67000"/>
            </a:srgbClr>
          </a:solidFill>
          <a:ln w="12700">
            <a:solidFill>
              <a:srgbClr val="071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3 — Network–CX Correlation Agent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548640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connects customer pain signals with network, service, billing, or provisioning events.</a:t>
            </a:r>
            <a:endParaRPr lang="en-US" sz="930" dirty="0"/>
          </a:p>
        </p:txBody>
      </p:sp>
      <p:sp>
        <p:nvSpPr>
          <p:cNvPr id="6" name="Shape 3"/>
          <p:cNvSpPr/>
          <p:nvPr/>
        </p:nvSpPr>
        <p:spPr>
          <a:xfrm>
            <a:off x="548640" y="1170432"/>
            <a:ext cx="1417320" cy="0"/>
          </a:xfrm>
          <a:prstGeom prst="line">
            <a:avLst/>
          </a:prstGeom>
          <a:noFill/>
          <a:ln w="254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85800" y="1353312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0B1F3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50392" y="1490472"/>
            <a:ext cx="1280160" cy="274320"/>
          </a:xfrm>
          <a:prstGeom prst="roundRect">
            <a:avLst>
              <a:gd name="adj" fmla="val 33333"/>
            </a:avLst>
          </a:prstGeom>
          <a:solidFill>
            <a:srgbClr val="FF9F43">
              <a:alpha val="94000"/>
            </a:srgbClr>
          </a:solidFill>
          <a:ln w="12700">
            <a:solidFill>
              <a:srgbClr val="FF9F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23544" y="1554480"/>
            <a:ext cx="113385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Plain-English version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868680" y="1883664"/>
            <a:ext cx="4800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many customers complain about the same issue, AI helps identify where it is happening, who is affected, and which operational team should act.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" y="2834640"/>
            <a:ext cx="2212848" cy="1005840"/>
          </a:xfrm>
          <a:prstGeom prst="roundRect">
            <a:avLst>
              <a:gd name="adj" fmla="val 7273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999232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signals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923544" y="3319272"/>
            <a:ext cx="18745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complaints • chats • app telemetry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990088" y="3337560"/>
            <a:ext cx="530352" cy="0"/>
          </a:xfrm>
          <a:prstGeom prst="line">
            <a:avLst/>
          </a:prstGeom>
          <a:noFill/>
          <a:ln w="16510">
            <a:solidFill>
              <a:srgbClr val="27D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611880" y="2834640"/>
            <a:ext cx="2212848" cy="1005840"/>
          </a:xfrm>
          <a:prstGeom prst="roundRect">
            <a:avLst>
              <a:gd name="adj" fmla="val 7273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749040" y="2999232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signals</a:t>
            </a:r>
            <a:endParaRPr lang="en-US" sz="1140" dirty="0"/>
          </a:p>
        </p:txBody>
      </p:sp>
      <p:sp>
        <p:nvSpPr>
          <p:cNvPr id="17" name="Text 14"/>
          <p:cNvSpPr/>
          <p:nvPr/>
        </p:nvSpPr>
        <p:spPr>
          <a:xfrm>
            <a:off x="3758184" y="3319272"/>
            <a:ext cx="18745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alarms • outage tickets • service KPIs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5824728" y="3337560"/>
            <a:ext cx="530352" cy="0"/>
          </a:xfrm>
          <a:prstGeom prst="line">
            <a:avLst/>
          </a:prstGeom>
          <a:noFill/>
          <a:ln w="16510">
            <a:solidFill>
              <a:srgbClr val="27D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446520" y="2834640"/>
            <a:ext cx="2212848" cy="1005840"/>
          </a:xfrm>
          <a:prstGeom prst="roundRect">
            <a:avLst>
              <a:gd name="adj" fmla="val 7273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583680" y="2999232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Correlation</a:t>
            </a:r>
            <a:endParaRPr lang="en-US" sz="1140" dirty="0"/>
          </a:p>
        </p:txBody>
      </p:sp>
      <p:sp>
        <p:nvSpPr>
          <p:cNvPr id="21" name="Text 18"/>
          <p:cNvSpPr/>
          <p:nvPr/>
        </p:nvSpPr>
        <p:spPr>
          <a:xfrm>
            <a:off x="6592824" y="3319272"/>
            <a:ext cx="18745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spikes, clusters, likely root cause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8659368" y="3337560"/>
            <a:ext cx="530352" cy="0"/>
          </a:xfrm>
          <a:prstGeom prst="line">
            <a:avLst/>
          </a:prstGeom>
          <a:noFill/>
          <a:ln w="16510">
            <a:solidFill>
              <a:srgbClr val="27D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281160" y="2834640"/>
            <a:ext cx="2212848" cy="1005840"/>
          </a:xfrm>
          <a:prstGeom prst="roundRect">
            <a:avLst>
              <a:gd name="adj" fmla="val 7273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418320" y="2999232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140" dirty="0"/>
          </a:p>
        </p:txBody>
      </p:sp>
      <p:sp>
        <p:nvSpPr>
          <p:cNvPr id="25" name="Text 22"/>
          <p:cNvSpPr/>
          <p:nvPr/>
        </p:nvSpPr>
        <p:spPr>
          <a:xfrm>
            <a:off x="9427464" y="3319272"/>
            <a:ext cx="18745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NOC ticket • CX advisory • proactive deflection</a:t>
            </a:r>
            <a:endParaRPr lang="en-US" sz="780" dirty="0"/>
          </a:p>
        </p:txBody>
      </p:sp>
      <p:sp>
        <p:nvSpPr>
          <p:cNvPr id="26" name="Text 23"/>
          <p:cNvSpPr/>
          <p:nvPr/>
        </p:nvSpPr>
        <p:spPr>
          <a:xfrm>
            <a:off x="868680" y="4526280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Acronyms on this slide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005840" y="4901184"/>
            <a:ext cx="5669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OSS = Operations Support Systems: network/service operations tools</a:t>
            </a:r>
            <a:endParaRPr lang="en-US" sz="860" dirty="0"/>
          </a:p>
        </p:txBody>
      </p:sp>
      <p:sp>
        <p:nvSpPr>
          <p:cNvPr id="28" name="Text 25"/>
          <p:cNvSpPr/>
          <p:nvPr/>
        </p:nvSpPr>
        <p:spPr>
          <a:xfrm>
            <a:off x="1005840" y="5184648"/>
            <a:ext cx="5669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BSS = Business Support Systems: billing, orders, accounts, products</a:t>
            </a:r>
            <a:endParaRPr lang="en-US" sz="860" dirty="0"/>
          </a:p>
        </p:txBody>
      </p:sp>
      <p:sp>
        <p:nvSpPr>
          <p:cNvPr id="29" name="Text 26"/>
          <p:cNvSpPr/>
          <p:nvPr/>
        </p:nvSpPr>
        <p:spPr>
          <a:xfrm>
            <a:off x="1005840" y="5468112"/>
            <a:ext cx="5669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NOC = Network Operations Center: team monitoring network health</a:t>
            </a:r>
            <a:endParaRPr lang="en-US" sz="860" dirty="0"/>
          </a:p>
        </p:txBody>
      </p:sp>
      <p:sp>
        <p:nvSpPr>
          <p:cNvPr id="30" name="Text 27"/>
          <p:cNvSpPr/>
          <p:nvPr/>
        </p:nvSpPr>
        <p:spPr>
          <a:xfrm>
            <a:off x="1005840" y="5751576"/>
            <a:ext cx="5669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KPI = Key Performance Indicator: metric used to track performance</a:t>
            </a:r>
            <a:endParaRPr lang="en-US" sz="860" dirty="0"/>
          </a:p>
        </p:txBody>
      </p:sp>
      <p:sp>
        <p:nvSpPr>
          <p:cNvPr id="31" name="Text 28"/>
          <p:cNvSpPr/>
          <p:nvPr/>
        </p:nvSpPr>
        <p:spPr>
          <a:xfrm>
            <a:off x="7406640" y="4736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9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30–60m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7406640" y="51297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earlier complaint spike detection</a:t>
            </a:r>
            <a:endParaRPr lang="en-US" sz="820" dirty="0"/>
          </a:p>
        </p:txBody>
      </p:sp>
      <p:sp>
        <p:nvSpPr>
          <p:cNvPr id="33" name="Text 30"/>
          <p:cNvSpPr/>
          <p:nvPr/>
        </p:nvSpPr>
        <p:spPr>
          <a:xfrm>
            <a:off x="9646920" y="4736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7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20–40%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9646920" y="51297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root-cause identification</a:t>
            </a:r>
            <a:endParaRPr lang="en-US" sz="820" dirty="0"/>
          </a:p>
        </p:txBody>
      </p:sp>
      <p:sp>
        <p:nvSpPr>
          <p:cNvPr id="35" name="Text 32"/>
          <p:cNvSpPr/>
          <p:nvPr/>
        </p:nvSpPr>
        <p:spPr>
          <a:xfrm>
            <a:off x="548640" y="6537960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Springboard × Globe Telecom | AI CX operations &amp; assurance — simplified stakeholder deck</a:t>
            </a:r>
            <a:endParaRPr lang="en-US" sz="630" dirty="0"/>
          </a:p>
        </p:txBody>
      </p:sp>
      <p:sp>
        <p:nvSpPr>
          <p:cNvPr id="36" name="Text 33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40" dirty="0"/>
          </a:p>
        </p:txBody>
      </p:sp>
      <p:pic>
        <p:nvPicPr>
          <p:cNvPr id="37" name="Picture 36" descr="Springboard | Manila">
            <a:extLst>
              <a:ext uri="{FF2B5EF4-FFF2-40B4-BE49-F238E27FC236}">
                <a16:creationId xmlns:a16="http://schemas.microsoft.com/office/drawing/2014/main" id="{1D26920F-8DC8-3E79-F702-4C0FA348D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6604" y="549656"/>
            <a:ext cx="857504" cy="857504"/>
          </a:xfrm>
          <a:prstGeom prst="rect">
            <a:avLst/>
          </a:prstGeom>
        </p:spPr>
      </p:pic>
      <p:pic>
        <p:nvPicPr>
          <p:cNvPr id="38" name="Picture 37" descr="Globe Philippines Logo">
            <a:extLst>
              <a:ext uri="{FF2B5EF4-FFF2-40B4-BE49-F238E27FC236}">
                <a16:creationId xmlns:a16="http://schemas.microsoft.com/office/drawing/2014/main" id="{CBA7DA59-B599-35D8-60D6-0173C3A7F6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4914" y="537464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5"/>
          </a:solidFill>
          <a:ln w="12700">
            <a:solidFill>
              <a:srgbClr val="071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4 — Back-office Case Resolution Copilot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Wave 2 use case for complex cases that need policy checks, approvals, and system lookups.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417320" cy="0"/>
          </a:xfrm>
          <a:prstGeom prst="line">
            <a:avLst/>
          </a:prstGeom>
          <a:noFill/>
          <a:ln w="254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1389888"/>
            <a:ext cx="10607040" cy="841248"/>
          </a:xfrm>
          <a:prstGeom prst="roundRect">
            <a:avLst>
              <a:gd name="adj" fmla="val 8696"/>
            </a:avLst>
          </a:prstGeom>
          <a:solidFill>
            <a:srgbClr val="0B1F33"/>
          </a:solidFill>
          <a:ln w="12700">
            <a:solidFill>
              <a:srgbClr val="A8B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77824" y="1527048"/>
            <a:ext cx="1280160" cy="274320"/>
          </a:xfrm>
          <a:prstGeom prst="roundRect">
            <a:avLst>
              <a:gd name="adj" fmla="val 33333"/>
            </a:avLst>
          </a:prstGeom>
          <a:solidFill>
            <a:srgbClr val="A8B3FF">
              <a:alpha val="94000"/>
            </a:srgbClr>
          </a:solidFill>
          <a:ln w="12700">
            <a:solidFill>
              <a:srgbClr val="A8B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50976" y="1591056"/>
            <a:ext cx="113385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Plain-English version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896112" y="1920240"/>
            <a:ext cx="10241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prepares the case file and recommends a resolution. Humans still approve anything that changes money, service, account status, or customer entitlements.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283464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8096" y="2990088"/>
            <a:ext cx="1307592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intake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786384" y="3273552"/>
            <a:ext cx="1261872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issue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2130552" y="3273552"/>
            <a:ext cx="429768" cy="0"/>
          </a:xfrm>
          <a:prstGeom prst="line">
            <a:avLst/>
          </a:prstGeom>
          <a:noFill/>
          <a:ln w="16510">
            <a:solidFill>
              <a:srgbClr val="27D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606040" y="283464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60904" y="2990088"/>
            <a:ext cx="1307592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check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2679192" y="3273552"/>
            <a:ext cx="1261872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rules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4023360" y="3273552"/>
            <a:ext cx="429768" cy="0"/>
          </a:xfrm>
          <a:prstGeom prst="line">
            <a:avLst/>
          </a:prstGeom>
          <a:noFill/>
          <a:ln w="16510">
            <a:solidFill>
              <a:srgbClr val="27D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98848" y="283464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53712" y="2990088"/>
            <a:ext cx="1307592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lookup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4572000" y="3273552"/>
            <a:ext cx="1261872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facts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5916168" y="3273552"/>
            <a:ext cx="429768" cy="0"/>
          </a:xfrm>
          <a:prstGeom prst="line">
            <a:avLst/>
          </a:prstGeom>
          <a:noFill/>
          <a:ln w="16510">
            <a:solidFill>
              <a:srgbClr val="27D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91656" y="283464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46520" y="2990088"/>
            <a:ext cx="1307592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6464808" y="3273552"/>
            <a:ext cx="1261872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 next step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7808976" y="3273552"/>
            <a:ext cx="429768" cy="0"/>
          </a:xfrm>
          <a:prstGeom prst="line">
            <a:avLst/>
          </a:prstGeom>
          <a:noFill/>
          <a:ln w="16510">
            <a:solidFill>
              <a:srgbClr val="27D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84464" y="283464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9F43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39328" y="2990088"/>
            <a:ext cx="1307592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Maker-checker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8357616" y="3273552"/>
            <a:ext cx="1261872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or reject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9701784" y="3273552"/>
            <a:ext cx="429768" cy="0"/>
          </a:xfrm>
          <a:prstGeom prst="line">
            <a:avLst/>
          </a:prstGeom>
          <a:noFill/>
          <a:ln w="16510">
            <a:solidFill>
              <a:srgbClr val="27D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177272" y="283464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232136" y="2990088"/>
            <a:ext cx="1307592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update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10250424" y="3273552"/>
            <a:ext cx="1261872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outcome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822960" y="4315968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candidate journeys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0120" y="4681728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Billing adjustment review</a:t>
            </a:r>
            <a:endParaRPr lang="en-US" sz="870" dirty="0"/>
          </a:p>
        </p:txBody>
      </p:sp>
      <p:sp>
        <p:nvSpPr>
          <p:cNvPr id="35" name="Text 33"/>
          <p:cNvSpPr/>
          <p:nvPr/>
        </p:nvSpPr>
        <p:spPr>
          <a:xfrm>
            <a:off x="960120" y="4974336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Bill shock or roaming charge dispute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960120" y="5266944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Failed activation or porting failure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960120" y="5559552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Enterprise Service Level Agreement (SLA) credit</a:t>
            </a:r>
            <a:endParaRPr lang="en-US" sz="870" dirty="0"/>
          </a:p>
        </p:txBody>
      </p:sp>
      <p:sp>
        <p:nvSpPr>
          <p:cNvPr id="38" name="Text 36"/>
          <p:cNvSpPr/>
          <p:nvPr/>
        </p:nvSpPr>
        <p:spPr>
          <a:xfrm>
            <a:off x="5806440" y="431596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not first?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943600" y="4681728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More system integration required</a:t>
            </a:r>
            <a:endParaRPr lang="en-US" sz="870" dirty="0"/>
          </a:p>
        </p:txBody>
      </p:sp>
      <p:sp>
        <p:nvSpPr>
          <p:cNvPr id="40" name="Text 38"/>
          <p:cNvSpPr/>
          <p:nvPr/>
        </p:nvSpPr>
        <p:spPr>
          <a:xfrm>
            <a:off x="5943600" y="4974336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Higher direct customer/account impact</a:t>
            </a:r>
            <a:endParaRPr lang="en-US" sz="870" dirty="0"/>
          </a:p>
        </p:txBody>
      </p:sp>
      <p:sp>
        <p:nvSpPr>
          <p:cNvPr id="41" name="Text 39"/>
          <p:cNvSpPr/>
          <p:nvPr/>
        </p:nvSpPr>
        <p:spPr>
          <a:xfrm>
            <a:off x="5943600" y="5266944"/>
            <a:ext cx="4114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Finance, fraud, and compliance approvals needed</a:t>
            </a:r>
            <a:endParaRPr lang="en-US" sz="870" dirty="0"/>
          </a:p>
        </p:txBody>
      </p:sp>
      <p:sp>
        <p:nvSpPr>
          <p:cNvPr id="42" name="Text 40"/>
          <p:cNvSpPr/>
          <p:nvPr/>
        </p:nvSpPr>
        <p:spPr>
          <a:xfrm>
            <a:off x="548640" y="6537960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Springboard × Globe Telecom | AI CX operations &amp; assurance — simplified stakeholder deck</a:t>
            </a:r>
            <a:endParaRPr lang="en-US" sz="630" dirty="0"/>
          </a:p>
        </p:txBody>
      </p:sp>
      <p:sp>
        <p:nvSpPr>
          <p:cNvPr id="43" name="Text 41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40" dirty="0"/>
          </a:p>
        </p:txBody>
      </p:sp>
      <p:pic>
        <p:nvPicPr>
          <p:cNvPr id="44" name="Picture 43" descr="Springboard | Manila">
            <a:extLst>
              <a:ext uri="{FF2B5EF4-FFF2-40B4-BE49-F238E27FC236}">
                <a16:creationId xmlns:a16="http://schemas.microsoft.com/office/drawing/2014/main" id="{71536219-B348-138C-38AB-186EB5C43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604" y="549656"/>
            <a:ext cx="857504" cy="857504"/>
          </a:xfrm>
          <a:prstGeom prst="rect">
            <a:avLst/>
          </a:prstGeom>
        </p:spPr>
      </p:pic>
      <p:pic>
        <p:nvPicPr>
          <p:cNvPr id="45" name="Picture 44" descr="Globe Philippines Logo">
            <a:extLst>
              <a:ext uri="{FF2B5EF4-FFF2-40B4-BE49-F238E27FC236}">
                <a16:creationId xmlns:a16="http://schemas.microsoft.com/office/drawing/2014/main" id="{E5B674A1-BF8D-28CB-AD5B-8995BAE5C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4914" y="537464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futuristic_isometric_3d_infographic_scene_batch_4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5">
              <a:alpha val="56000"/>
            </a:srgbClr>
          </a:solidFill>
          <a:ln w="12700">
            <a:solidFill>
              <a:srgbClr val="071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solution works — simple view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548640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the “brain” from the systems, data, controls, and human approval points.</a:t>
            </a:r>
            <a:endParaRPr lang="en-US" sz="930" dirty="0"/>
          </a:p>
        </p:txBody>
      </p:sp>
      <p:sp>
        <p:nvSpPr>
          <p:cNvPr id="6" name="Shape 3"/>
          <p:cNvSpPr/>
          <p:nvPr/>
        </p:nvSpPr>
        <p:spPr>
          <a:xfrm>
            <a:off x="548640" y="1170432"/>
            <a:ext cx="1417320" cy="0"/>
          </a:xfrm>
          <a:prstGeom prst="line">
            <a:avLst/>
          </a:prstGeom>
          <a:noFill/>
          <a:ln w="254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66928" y="1965960"/>
            <a:ext cx="1938528" cy="1325880"/>
          </a:xfrm>
          <a:prstGeom prst="roundRect">
            <a:avLst>
              <a:gd name="adj" fmla="val 5517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2167128"/>
            <a:ext cx="17007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sources</a:t>
            </a:r>
            <a:endParaRPr lang="en-US" sz="1140" dirty="0"/>
          </a:p>
        </p:txBody>
      </p:sp>
      <p:sp>
        <p:nvSpPr>
          <p:cNvPr id="9" name="Text 6"/>
          <p:cNvSpPr/>
          <p:nvPr/>
        </p:nvSpPr>
        <p:spPr>
          <a:xfrm>
            <a:off x="685800" y="2542032"/>
            <a:ext cx="1682496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Calls, chats, CRM cases, knowledge articles, network events</a:t>
            </a:r>
            <a:endParaRPr lang="en-US" sz="760" dirty="0"/>
          </a:p>
        </p:txBody>
      </p:sp>
      <p:sp>
        <p:nvSpPr>
          <p:cNvPr id="10" name="Shape 7"/>
          <p:cNvSpPr/>
          <p:nvPr/>
        </p:nvSpPr>
        <p:spPr>
          <a:xfrm>
            <a:off x="2505456" y="2633472"/>
            <a:ext cx="347472" cy="0"/>
          </a:xfrm>
          <a:prstGeom prst="line">
            <a:avLst/>
          </a:prstGeom>
          <a:noFill/>
          <a:ln w="16510">
            <a:solidFill>
              <a:srgbClr val="27D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898648" y="1965960"/>
            <a:ext cx="1938528" cy="1325880"/>
          </a:xfrm>
          <a:prstGeom prst="roundRect">
            <a:avLst>
              <a:gd name="adj" fmla="val 5517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017520" y="2167128"/>
            <a:ext cx="17007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controls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3017520" y="2542032"/>
            <a:ext cx="1682496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or mask sensitive customer information where possible</a:t>
            </a:r>
            <a:endParaRPr lang="en-US" sz="760" dirty="0"/>
          </a:p>
        </p:txBody>
      </p:sp>
      <p:sp>
        <p:nvSpPr>
          <p:cNvPr id="14" name="Shape 11"/>
          <p:cNvSpPr/>
          <p:nvPr/>
        </p:nvSpPr>
        <p:spPr>
          <a:xfrm>
            <a:off x="4837176" y="2633472"/>
            <a:ext cx="347472" cy="0"/>
          </a:xfrm>
          <a:prstGeom prst="line">
            <a:avLst/>
          </a:prstGeom>
          <a:noFill/>
          <a:ln w="16510">
            <a:solidFill>
              <a:srgbClr val="27D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230368" y="1965960"/>
            <a:ext cx="1938528" cy="1325880"/>
          </a:xfrm>
          <a:prstGeom prst="roundRect">
            <a:avLst>
              <a:gd name="adj" fmla="val 5517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349240" y="2167128"/>
            <a:ext cx="17007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layer</a:t>
            </a:r>
            <a:endParaRPr lang="en-US" sz="1140" dirty="0"/>
          </a:p>
        </p:txBody>
      </p:sp>
      <p:sp>
        <p:nvSpPr>
          <p:cNvPr id="17" name="Text 14"/>
          <p:cNvSpPr/>
          <p:nvPr/>
        </p:nvSpPr>
        <p:spPr>
          <a:xfrm>
            <a:off x="5349240" y="2542032"/>
            <a:ext cx="1682496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Searches approved knowledge, reasons, drafts, and classifies</a:t>
            </a:r>
            <a:endParaRPr lang="en-US" sz="760" dirty="0"/>
          </a:p>
        </p:txBody>
      </p:sp>
      <p:sp>
        <p:nvSpPr>
          <p:cNvPr id="18" name="Shape 15"/>
          <p:cNvSpPr/>
          <p:nvPr/>
        </p:nvSpPr>
        <p:spPr>
          <a:xfrm>
            <a:off x="7168896" y="2633472"/>
            <a:ext cx="347472" cy="0"/>
          </a:xfrm>
          <a:prstGeom prst="line">
            <a:avLst/>
          </a:prstGeom>
          <a:noFill/>
          <a:ln w="16510">
            <a:solidFill>
              <a:srgbClr val="27D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562088" y="1965960"/>
            <a:ext cx="1938528" cy="1325880"/>
          </a:xfrm>
          <a:prstGeom prst="roundRect">
            <a:avLst>
              <a:gd name="adj" fmla="val 5517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680960" y="2167128"/>
            <a:ext cx="17007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approval</a:t>
            </a:r>
            <a:endParaRPr lang="en-US" sz="1140" dirty="0"/>
          </a:p>
        </p:txBody>
      </p:sp>
      <p:sp>
        <p:nvSpPr>
          <p:cNvPr id="21" name="Text 18"/>
          <p:cNvSpPr/>
          <p:nvPr/>
        </p:nvSpPr>
        <p:spPr>
          <a:xfrm>
            <a:off x="7680960" y="2542032"/>
            <a:ext cx="1682496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Agent, QA, NOC, or supervisor reviews before action</a:t>
            </a:r>
            <a:endParaRPr lang="en-US" sz="760" dirty="0"/>
          </a:p>
        </p:txBody>
      </p:sp>
      <p:sp>
        <p:nvSpPr>
          <p:cNvPr id="22" name="Shape 19"/>
          <p:cNvSpPr/>
          <p:nvPr/>
        </p:nvSpPr>
        <p:spPr>
          <a:xfrm>
            <a:off x="9500616" y="2633472"/>
            <a:ext cx="347472" cy="0"/>
          </a:xfrm>
          <a:prstGeom prst="line">
            <a:avLst/>
          </a:prstGeom>
          <a:noFill/>
          <a:ln w="16510">
            <a:solidFill>
              <a:srgbClr val="27D3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893808" y="1965960"/>
            <a:ext cx="1938528" cy="1325880"/>
          </a:xfrm>
          <a:prstGeom prst="roundRect">
            <a:avLst>
              <a:gd name="adj" fmla="val 5517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0012680" y="2167128"/>
            <a:ext cx="17007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record</a:t>
            </a:r>
            <a:endParaRPr lang="en-US" sz="1140" dirty="0"/>
          </a:p>
        </p:txBody>
      </p:sp>
      <p:sp>
        <p:nvSpPr>
          <p:cNvPr id="25" name="Text 22"/>
          <p:cNvSpPr/>
          <p:nvPr/>
        </p:nvSpPr>
        <p:spPr>
          <a:xfrm>
            <a:off x="10012680" y="2542032"/>
            <a:ext cx="1682496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source, output, decision, approver, and outcome</a:t>
            </a:r>
            <a:endParaRPr lang="en-US" sz="760" dirty="0"/>
          </a:p>
        </p:txBody>
      </p:sp>
      <p:sp>
        <p:nvSpPr>
          <p:cNvPr id="26" name="Shape 23"/>
          <p:cNvSpPr/>
          <p:nvPr/>
        </p:nvSpPr>
        <p:spPr>
          <a:xfrm>
            <a:off x="1005840" y="4480560"/>
            <a:ext cx="10149840" cy="914400"/>
          </a:xfrm>
          <a:prstGeom prst="roundRect">
            <a:avLst>
              <a:gd name="adj" fmla="val 8000"/>
            </a:avLst>
          </a:prstGeom>
          <a:solidFill>
            <a:srgbClr val="0B1F33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170432" y="4617720"/>
            <a:ext cx="1280160" cy="274320"/>
          </a:xfrm>
          <a:prstGeom prst="roundRect">
            <a:avLst>
              <a:gd name="adj" fmla="val 33333"/>
            </a:avLst>
          </a:prstGeom>
          <a:solidFill>
            <a:srgbClr val="00C2A8">
              <a:alpha val="94000"/>
            </a:srgbClr>
          </a:solidFill>
          <a:ln w="12700">
            <a:solidFill>
              <a:srgbClr val="00C2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243584" y="4681728"/>
            <a:ext cx="113385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1188720" y="5010912"/>
            <a:ext cx="9784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structure keeps the pilot vendor-neutral and controlled. Globe can change the contact-center system, cloud provider, or AI model later without redesigning the whole operating model.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48640" y="6537960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Springboard × Globe Telecom | AI CX operations &amp; assurance — simplified stakeholder deck</a:t>
            </a:r>
            <a:endParaRPr lang="en-US" sz="630" dirty="0"/>
          </a:p>
        </p:txBody>
      </p:sp>
      <p:sp>
        <p:nvSpPr>
          <p:cNvPr id="31" name="Text 28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40" dirty="0"/>
          </a:p>
        </p:txBody>
      </p:sp>
      <p:pic>
        <p:nvPicPr>
          <p:cNvPr id="32" name="Picture 31" descr="Springboard | Manila">
            <a:extLst>
              <a:ext uri="{FF2B5EF4-FFF2-40B4-BE49-F238E27FC236}">
                <a16:creationId xmlns:a16="http://schemas.microsoft.com/office/drawing/2014/main" id="{0CAD0984-C71E-4437-66D4-2AD6CB0DB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6604" y="549656"/>
            <a:ext cx="857504" cy="857504"/>
          </a:xfrm>
          <a:prstGeom prst="rect">
            <a:avLst/>
          </a:prstGeom>
        </p:spPr>
      </p:pic>
      <p:pic>
        <p:nvPicPr>
          <p:cNvPr id="33" name="Picture 32" descr="Globe Philippines Logo">
            <a:extLst>
              <a:ext uri="{FF2B5EF4-FFF2-40B4-BE49-F238E27FC236}">
                <a16:creationId xmlns:a16="http://schemas.microsoft.com/office/drawing/2014/main" id="{173791EE-72BF-91AA-D692-5160A7A415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4914" y="537464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5"/>
          </a:solidFill>
          <a:ln w="12700">
            <a:solidFill>
              <a:srgbClr val="071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technology stack — explained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technical architecture, but make each layer understandable to business stakeholders.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417320" cy="0"/>
          </a:xfrm>
          <a:prstGeom prst="line">
            <a:avLst/>
          </a:prstGeom>
          <a:noFill/>
          <a:ln w="254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0835640" cy="502920"/>
          </a:xfrm>
          <a:prstGeom prst="roundRect">
            <a:avLst>
              <a:gd name="adj" fmla="val 14545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545336"/>
            <a:ext cx="13716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27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2331720" y="1545336"/>
            <a:ext cx="4023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gateway, event streaming, batch connectors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629400" y="1536192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Moves information safely between systems.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85800" y="2103120"/>
            <a:ext cx="10835640" cy="502920"/>
          </a:xfrm>
          <a:prstGeom prst="roundRect">
            <a:avLst>
              <a:gd name="adj" fmla="val 14545"/>
            </a:avLst>
          </a:prstGeom>
          <a:solidFill>
            <a:srgbClr val="0B1F33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231136"/>
            <a:ext cx="13716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27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platform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2331720" y="2231136"/>
            <a:ext cx="4023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Lakehouse, metadata catalog, data-quality checks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6629400" y="2221992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governed data and tracks where it came from.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685800" y="2788920"/>
            <a:ext cx="10835640" cy="502920"/>
          </a:xfrm>
          <a:prstGeom prst="roundRect">
            <a:avLst>
              <a:gd name="adj" fmla="val 14545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916936"/>
            <a:ext cx="13716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27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+ search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2331720" y="2916936"/>
            <a:ext cx="4023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search, vector database, document versioning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6629400" y="2907792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Finds approved policies and procedures for the AI to use.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85800" y="3474720"/>
            <a:ext cx="10835640" cy="502920"/>
          </a:xfrm>
          <a:prstGeom prst="roundRect">
            <a:avLst>
              <a:gd name="adj" fmla="val 14545"/>
            </a:avLst>
          </a:prstGeom>
          <a:solidFill>
            <a:srgbClr val="0B1F33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3602736"/>
            <a:ext cx="13716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27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model layer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2331720" y="3602736"/>
            <a:ext cx="4023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gateway, model router, prompt registry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629400" y="3593592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Lets Globe use different AI models without lock-in.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85800" y="4160520"/>
            <a:ext cx="10835640" cy="502920"/>
          </a:xfrm>
          <a:prstGeom prst="roundRect">
            <a:avLst>
              <a:gd name="adj" fmla="val 14545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4288536"/>
            <a:ext cx="13716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27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2331720" y="4288536"/>
            <a:ext cx="4023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ServiceNow, Salesforce, Jira, Genesys/NICE/Five9 adapters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6629400" y="4279392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Puts AI recommendations into normal work queues.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85800" y="4846320"/>
            <a:ext cx="10835640" cy="502920"/>
          </a:xfrm>
          <a:prstGeom prst="roundRect">
            <a:avLst>
              <a:gd name="adj" fmla="val 14545"/>
            </a:avLst>
          </a:prstGeom>
          <a:solidFill>
            <a:srgbClr val="0B1F33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974336"/>
            <a:ext cx="13716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27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2331720" y="4974336"/>
            <a:ext cx="4023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dashboards, model evaluation, audit logs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6629400" y="4965192"/>
            <a:ext cx="43891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whether AI is accurate, safe, and useful.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777240" y="5742432"/>
            <a:ext cx="10424160" cy="530352"/>
          </a:xfrm>
          <a:prstGeom prst="roundRect">
            <a:avLst>
              <a:gd name="adj" fmla="val 13793"/>
            </a:avLst>
          </a:prstGeom>
          <a:solidFill>
            <a:srgbClr val="0B1F33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41832" y="5879592"/>
            <a:ext cx="1280160" cy="274320"/>
          </a:xfrm>
          <a:prstGeom prst="roundRect">
            <a:avLst>
              <a:gd name="adj" fmla="val 33333"/>
            </a:avLst>
          </a:prstGeom>
          <a:solidFill>
            <a:srgbClr val="2F80ED">
              <a:alpha val="94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14984" y="5943600"/>
            <a:ext cx="113385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design choice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960120" y="6272784"/>
            <a:ext cx="10058400" cy="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model gateway: one controlled entry point for all Large Language Models (LLMs). This reduces vendor lock-in and makes logging, approvals, and policy enforcement easier.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Springboard × Globe Telecom | AI CX operations &amp; assurance — simplified stakeholder deck</a:t>
            </a:r>
            <a:endParaRPr lang="en-US" sz="630" dirty="0"/>
          </a:p>
        </p:txBody>
      </p:sp>
      <p:sp>
        <p:nvSpPr>
          <p:cNvPr id="35" name="Text 33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40" dirty="0"/>
          </a:p>
        </p:txBody>
      </p:sp>
      <p:pic>
        <p:nvPicPr>
          <p:cNvPr id="36" name="Picture 35" descr="Springboard | Manila">
            <a:extLst>
              <a:ext uri="{FF2B5EF4-FFF2-40B4-BE49-F238E27FC236}">
                <a16:creationId xmlns:a16="http://schemas.microsoft.com/office/drawing/2014/main" id="{88787E71-0643-23A1-8670-7E6D786C1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604" y="549656"/>
            <a:ext cx="857504" cy="857504"/>
          </a:xfrm>
          <a:prstGeom prst="rect">
            <a:avLst/>
          </a:prstGeom>
        </p:spPr>
      </p:pic>
      <p:pic>
        <p:nvPicPr>
          <p:cNvPr id="37" name="Picture 36" descr="Globe Philippines Logo">
            <a:extLst>
              <a:ext uri="{FF2B5EF4-FFF2-40B4-BE49-F238E27FC236}">
                <a16:creationId xmlns:a16="http://schemas.microsoft.com/office/drawing/2014/main" id="{7F052ECB-D801-1807-EE62-F7717B1DC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4914" y="537464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5"/>
          </a:solidFill>
          <a:ln w="12700">
            <a:solidFill>
              <a:srgbClr val="071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Data, privacy, and audit guardrails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pilot should be audit-ready from day one, not retrofitted later.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417320" cy="0"/>
          </a:xfrm>
          <a:prstGeom prst="line">
            <a:avLst/>
          </a:prstGeom>
          <a:noFill/>
          <a:ln w="254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0392" y="1755648"/>
            <a:ext cx="384048" cy="384048"/>
          </a:xfrm>
          <a:prstGeom prst="ellipse">
            <a:avLst/>
          </a:prstGeom>
          <a:solidFill>
            <a:srgbClr val="00C2A8">
              <a:alpha val="9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1847088"/>
            <a:ext cx="292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399032" y="1719072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customer data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99032" y="2011680"/>
            <a:ext cx="38862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PII = Personally Identifiable Information. Mask or tokenize names, numbers, IDs, and account data where feasible.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73952" y="1755648"/>
            <a:ext cx="384048" cy="384048"/>
          </a:xfrm>
          <a:prstGeom prst="ellipse">
            <a:avLst/>
          </a:prstGeom>
          <a:solidFill>
            <a:srgbClr val="2F80ED">
              <a:alpha val="9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19672" y="1847088"/>
            <a:ext cx="292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7022592" y="1719072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access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22592" y="2011680"/>
            <a:ext cx="38862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RBAC/ABAC = Role- or Attribute-Based Access Control. People see only the data their role permits.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685800" y="306324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50392" y="3264408"/>
            <a:ext cx="384048" cy="384048"/>
          </a:xfrm>
          <a:prstGeom prst="ellipse">
            <a:avLst/>
          </a:prstGeom>
          <a:solidFill>
            <a:srgbClr val="FF9F43">
              <a:alpha val="9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6112" y="3355848"/>
            <a:ext cx="292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399032" y="3227832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 the AI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99032" y="3520440"/>
            <a:ext cx="38862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= Retrieval-Augmented Generation. AI should answer from approved sources, not memory alone.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309360" y="306324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73952" y="3264408"/>
            <a:ext cx="384048" cy="384048"/>
          </a:xfrm>
          <a:prstGeom prst="ellipse">
            <a:avLst/>
          </a:prstGeom>
          <a:solidFill>
            <a:srgbClr val="A8B3FF">
              <a:alpha val="9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19672" y="3355848"/>
            <a:ext cx="292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7022592" y="3227832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humans accountable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022592" y="3520440"/>
            <a:ext cx="38862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HITL = Human-in-the-loop. People approve outputs that affect customers, money, or accounts.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777240" y="4892040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alignment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" y="5285232"/>
            <a:ext cx="10515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 with Philippines National Privacy Commission guidance and ASEAN AI / Generative AI governance guidance: fairness, bias monitoring, data minimization, accountability, security, testing, incident reporting, and provenance.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Springboard × Globe Telecom | AI CX operations &amp; assurance — simplified stakeholder deck</a:t>
            </a:r>
            <a:endParaRPr lang="en-US" sz="630" dirty="0"/>
          </a:p>
        </p:txBody>
      </p:sp>
      <p:sp>
        <p:nvSpPr>
          <p:cNvPr id="29" name="Text 27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40" dirty="0"/>
          </a:p>
        </p:txBody>
      </p:sp>
      <p:pic>
        <p:nvPicPr>
          <p:cNvPr id="30" name="Picture 29" descr="Springboard | Manila">
            <a:extLst>
              <a:ext uri="{FF2B5EF4-FFF2-40B4-BE49-F238E27FC236}">
                <a16:creationId xmlns:a16="http://schemas.microsoft.com/office/drawing/2014/main" id="{600B886A-64AF-9745-0BFE-E6DCBCDFA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604" y="549656"/>
            <a:ext cx="857504" cy="857504"/>
          </a:xfrm>
          <a:prstGeom prst="rect">
            <a:avLst/>
          </a:prstGeom>
        </p:spPr>
      </p:pic>
      <p:pic>
        <p:nvPicPr>
          <p:cNvPr id="31" name="Picture 30" descr="Globe Philippines Logo">
            <a:extLst>
              <a:ext uri="{FF2B5EF4-FFF2-40B4-BE49-F238E27FC236}">
                <a16:creationId xmlns:a16="http://schemas.microsoft.com/office/drawing/2014/main" id="{2193B81D-6FCC-E58E-CACF-1EA9EA342A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4914" y="537464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5"/>
          </a:solidFill>
          <a:ln w="12700">
            <a:solidFill>
              <a:srgbClr val="071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Multistakeholder engagement model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pilot easy to adopt by giving every stakeholder a clear role.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417320" cy="0"/>
          </a:xfrm>
          <a:prstGeom prst="line">
            <a:avLst/>
          </a:prstGeom>
          <a:noFill/>
          <a:ln w="254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40680" y="2560320"/>
            <a:ext cx="1143000" cy="1143000"/>
          </a:xfrm>
          <a:prstGeom prst="ellipse">
            <a:avLst/>
          </a:prstGeom>
          <a:solidFill>
            <a:srgbClr val="00C2A8">
              <a:alpha val="9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0" y="3031236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780" dirty="0"/>
          </a:p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5166360" y="132588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2F80ED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76088" y="1490472"/>
            <a:ext cx="1645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Steering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76088" y="1828800"/>
            <a:ext cx="16459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CX, CIO/CTO, Legal/DPO, Ops</a:t>
            </a:r>
            <a:endParaRPr lang="en-US" sz="630" dirty="0"/>
          </a:p>
        </p:txBody>
      </p:sp>
      <p:sp>
        <p:nvSpPr>
          <p:cNvPr id="11" name="Shape 9"/>
          <p:cNvSpPr/>
          <p:nvPr/>
        </p:nvSpPr>
        <p:spPr>
          <a:xfrm>
            <a:off x="1143000" y="214884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F9F43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52728" y="2313432"/>
            <a:ext cx="1645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52728" y="2651760"/>
            <a:ext cx="16459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DPO, Legal, Security, Compliance</a:t>
            </a:r>
            <a:endParaRPr lang="en-US" sz="630" dirty="0"/>
          </a:p>
        </p:txBody>
      </p:sp>
      <p:sp>
        <p:nvSpPr>
          <p:cNvPr id="14" name="Shape 12"/>
          <p:cNvSpPr/>
          <p:nvPr/>
        </p:nvSpPr>
        <p:spPr>
          <a:xfrm>
            <a:off x="8915400" y="214884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27D3FF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25128" y="2313432"/>
            <a:ext cx="1645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CX Design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Council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025128" y="2651760"/>
            <a:ext cx="16459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CX Ops, QA, Training, BPO, Product</a:t>
            </a:r>
            <a:endParaRPr lang="en-US" sz="630" dirty="0"/>
          </a:p>
        </p:txBody>
      </p:sp>
      <p:sp>
        <p:nvSpPr>
          <p:cNvPr id="17" name="Shape 15"/>
          <p:cNvSpPr/>
          <p:nvPr/>
        </p:nvSpPr>
        <p:spPr>
          <a:xfrm>
            <a:off x="2240280" y="452628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A8B3FF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50008" y="4690872"/>
            <a:ext cx="1645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Squad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50008" y="5029200"/>
            <a:ext cx="16459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Data, Integration, AI, DevSecOps</a:t>
            </a:r>
            <a:endParaRPr lang="en-US" sz="630" dirty="0"/>
          </a:p>
        </p:txBody>
      </p:sp>
      <p:sp>
        <p:nvSpPr>
          <p:cNvPr id="20" name="Shape 18"/>
          <p:cNvSpPr/>
          <p:nvPr/>
        </p:nvSpPr>
        <p:spPr>
          <a:xfrm>
            <a:off x="8275320" y="452628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4CD964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85048" y="4690872"/>
            <a:ext cx="1645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85048" y="5029200"/>
            <a:ext cx="16459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QA, Team Leads, SMEs</a:t>
            </a:r>
            <a:endParaRPr lang="en-US" sz="630" dirty="0"/>
          </a:p>
        </p:txBody>
      </p:sp>
      <p:sp>
        <p:nvSpPr>
          <p:cNvPr id="23" name="Shape 21"/>
          <p:cNvSpPr/>
          <p:nvPr/>
        </p:nvSpPr>
        <p:spPr>
          <a:xfrm>
            <a:off x="822960" y="5742432"/>
            <a:ext cx="10424160" cy="438912"/>
          </a:xfrm>
          <a:prstGeom prst="roundRect">
            <a:avLst>
              <a:gd name="adj" fmla="val 16667"/>
            </a:avLst>
          </a:prstGeom>
          <a:solidFill>
            <a:srgbClr val="0B1F33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87552" y="5879592"/>
            <a:ext cx="1280160" cy="274320"/>
          </a:xfrm>
          <a:prstGeom prst="roundRect">
            <a:avLst>
              <a:gd name="adj" fmla="val 33333"/>
            </a:avLst>
          </a:prstGeom>
          <a:solidFill>
            <a:srgbClr val="2F80ED">
              <a:alpha val="94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60704" y="5943600"/>
            <a:ext cx="113385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DPO / BPO / SME definitions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1005840" y="6272784"/>
            <a:ext cx="10058400" cy="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DPO = Data Protection Officer. BPO = Business Process Outsourcing partner. SME = Subject Matter Expert.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537960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Springboard × Globe Telecom | AI CX operations &amp; assurance — simplified stakeholder deck</a:t>
            </a:r>
            <a:endParaRPr lang="en-US" sz="630" dirty="0"/>
          </a:p>
        </p:txBody>
      </p:sp>
      <p:sp>
        <p:nvSpPr>
          <p:cNvPr id="28" name="Text 26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40" dirty="0"/>
          </a:p>
        </p:txBody>
      </p:sp>
      <p:pic>
        <p:nvPicPr>
          <p:cNvPr id="29" name="Picture 28" descr="Springboard | Manila">
            <a:extLst>
              <a:ext uri="{FF2B5EF4-FFF2-40B4-BE49-F238E27FC236}">
                <a16:creationId xmlns:a16="http://schemas.microsoft.com/office/drawing/2014/main" id="{AA2BF5E6-46F0-5017-989C-676C4338C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604" y="549656"/>
            <a:ext cx="857504" cy="857504"/>
          </a:xfrm>
          <a:prstGeom prst="rect">
            <a:avLst/>
          </a:prstGeom>
        </p:spPr>
      </p:pic>
      <p:pic>
        <p:nvPicPr>
          <p:cNvPr id="30" name="Picture 29" descr="Globe Philippines Logo">
            <a:extLst>
              <a:ext uri="{FF2B5EF4-FFF2-40B4-BE49-F238E27FC236}">
                <a16:creationId xmlns:a16="http://schemas.microsoft.com/office/drawing/2014/main" id="{57A2E827-6681-9756-7CA4-4266F470A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4914" y="537464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5"/>
          </a:solidFill>
          <a:ln w="12700">
            <a:solidFill>
              <a:srgbClr val="071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16-week build and implementation timeline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staged path from discovery to measurable pilot outcomes.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417320" cy="0"/>
          </a:xfrm>
          <a:prstGeom prst="line">
            <a:avLst/>
          </a:prstGeom>
          <a:noFill/>
          <a:ln w="254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744200" cy="0"/>
          </a:xfrm>
          <a:prstGeom prst="line">
            <a:avLst/>
          </a:prstGeom>
          <a:noFill/>
          <a:ln w="17145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435608"/>
            <a:ext cx="0" cy="146304"/>
          </a:xfrm>
          <a:prstGeom prst="line">
            <a:avLst/>
          </a:prstGeom>
          <a:noFill/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197864"/>
            <a:ext cx="1828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83664" y="1435608"/>
            <a:ext cx="0" cy="146304"/>
          </a:xfrm>
          <a:prstGeom prst="line">
            <a:avLst/>
          </a:prstGeom>
          <a:noFill/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10512" y="1197864"/>
            <a:ext cx="1828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127248" y="1435608"/>
            <a:ext cx="0" cy="146304"/>
          </a:xfrm>
          <a:prstGeom prst="line">
            <a:avLst/>
          </a:prstGeom>
          <a:noFill/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54096" y="1197864"/>
            <a:ext cx="1828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370832" y="1435608"/>
            <a:ext cx="0" cy="146304"/>
          </a:xfrm>
          <a:prstGeom prst="line">
            <a:avLst/>
          </a:prstGeom>
          <a:noFill/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0" y="1197864"/>
            <a:ext cx="1828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614416" y="1435608"/>
            <a:ext cx="0" cy="146304"/>
          </a:xfrm>
          <a:prstGeom prst="line">
            <a:avLst/>
          </a:prstGeom>
          <a:noFill/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41264" y="1197864"/>
            <a:ext cx="1828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858000" y="1435608"/>
            <a:ext cx="0" cy="146304"/>
          </a:xfrm>
          <a:prstGeom prst="line">
            <a:avLst/>
          </a:prstGeom>
          <a:noFill/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84848" y="1197864"/>
            <a:ext cx="1828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101584" y="1435608"/>
            <a:ext cx="0" cy="146304"/>
          </a:xfrm>
          <a:prstGeom prst="line">
            <a:avLst/>
          </a:prstGeom>
          <a:noFill/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28432" y="1197864"/>
            <a:ext cx="1828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9345168" y="1435608"/>
            <a:ext cx="0" cy="146304"/>
          </a:xfrm>
          <a:prstGeom prst="line">
            <a:avLst/>
          </a:prstGeom>
          <a:noFill/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272016" y="1197864"/>
            <a:ext cx="1828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0588752" y="1435608"/>
            <a:ext cx="0" cy="146304"/>
          </a:xfrm>
          <a:prstGeom prst="line">
            <a:avLst/>
          </a:prstGeom>
          <a:noFill/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515600" y="1197864"/>
            <a:ext cx="1828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40080" y="1874520"/>
            <a:ext cx="621792" cy="521208"/>
          </a:xfrm>
          <a:prstGeom prst="roundRect">
            <a:avLst>
              <a:gd name="adj" fmla="val 14035"/>
            </a:avLst>
          </a:prstGeom>
          <a:solidFill>
            <a:srgbClr val="00C2A8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1947672"/>
            <a:ext cx="53035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Mobilize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85800" y="2157984"/>
            <a:ext cx="530352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5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Sponsors, scope, success metrics</a:t>
            </a:r>
            <a:endParaRPr lang="en-US" sz="540" dirty="0"/>
          </a:p>
        </p:txBody>
      </p:sp>
      <p:sp>
        <p:nvSpPr>
          <p:cNvPr id="28" name="Text 26"/>
          <p:cNvSpPr/>
          <p:nvPr/>
        </p:nvSpPr>
        <p:spPr>
          <a:xfrm>
            <a:off x="658368" y="1993392"/>
            <a:ext cx="47548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0–1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261872" y="2459736"/>
            <a:ext cx="1243584" cy="521208"/>
          </a:xfrm>
          <a:prstGeom prst="roundRect">
            <a:avLst>
              <a:gd name="adj" fmla="val 14035"/>
            </a:avLst>
          </a:prstGeom>
          <a:solidFill>
            <a:srgbClr val="2F80ED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07592" y="2532888"/>
            <a:ext cx="115214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307592" y="2743200"/>
            <a:ext cx="1152144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5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map, data inventory, DPIA</a:t>
            </a:r>
            <a:endParaRPr lang="en-US" sz="540" dirty="0"/>
          </a:p>
        </p:txBody>
      </p:sp>
      <p:sp>
        <p:nvSpPr>
          <p:cNvPr id="32" name="Text 30"/>
          <p:cNvSpPr/>
          <p:nvPr/>
        </p:nvSpPr>
        <p:spPr>
          <a:xfrm>
            <a:off x="658368" y="2578608"/>
            <a:ext cx="47548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1–3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505456" y="3044952"/>
            <a:ext cx="1243584" cy="521208"/>
          </a:xfrm>
          <a:prstGeom prst="roundRect">
            <a:avLst>
              <a:gd name="adj" fmla="val 14035"/>
            </a:avLst>
          </a:prstGeom>
          <a:solidFill>
            <a:srgbClr val="2F80ED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551176" y="3118104"/>
            <a:ext cx="115214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551176" y="3328416"/>
            <a:ext cx="1152144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5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Architecture, controls, user flows</a:t>
            </a:r>
            <a:endParaRPr lang="en-US" sz="540" dirty="0"/>
          </a:p>
        </p:txBody>
      </p:sp>
      <p:sp>
        <p:nvSpPr>
          <p:cNvPr id="36" name="Text 34"/>
          <p:cNvSpPr/>
          <p:nvPr/>
        </p:nvSpPr>
        <p:spPr>
          <a:xfrm>
            <a:off x="658368" y="3163824"/>
            <a:ext cx="47548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3–5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749040" y="3630168"/>
            <a:ext cx="2487168" cy="521208"/>
          </a:xfrm>
          <a:prstGeom prst="roundRect">
            <a:avLst>
              <a:gd name="adj" fmla="val 14035"/>
            </a:avLst>
          </a:prstGeom>
          <a:solidFill>
            <a:srgbClr val="FF9F43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794760" y="3703320"/>
            <a:ext cx="239572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794760" y="3913632"/>
            <a:ext cx="239572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5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Pipelines, copilot UI, dashboards</a:t>
            </a:r>
            <a:endParaRPr lang="en-US" sz="540" dirty="0"/>
          </a:p>
        </p:txBody>
      </p:sp>
      <p:sp>
        <p:nvSpPr>
          <p:cNvPr id="40" name="Text 38"/>
          <p:cNvSpPr/>
          <p:nvPr/>
        </p:nvSpPr>
        <p:spPr>
          <a:xfrm>
            <a:off x="658368" y="3749040"/>
            <a:ext cx="47548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5–9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236208" y="4215384"/>
            <a:ext cx="1243584" cy="521208"/>
          </a:xfrm>
          <a:prstGeom prst="roundRect">
            <a:avLst>
              <a:gd name="adj" fmla="val 14035"/>
            </a:avLst>
          </a:prstGeom>
          <a:solidFill>
            <a:srgbClr val="A8B3FF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81928" y="4288536"/>
            <a:ext cx="115214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&amp; calibrate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281928" y="4498848"/>
            <a:ext cx="1152144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5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QA, red-team, Taglish tests</a:t>
            </a:r>
            <a:endParaRPr lang="en-US" sz="540" dirty="0"/>
          </a:p>
        </p:txBody>
      </p:sp>
      <p:sp>
        <p:nvSpPr>
          <p:cNvPr id="44" name="Text 42"/>
          <p:cNvSpPr/>
          <p:nvPr/>
        </p:nvSpPr>
        <p:spPr>
          <a:xfrm>
            <a:off x="658368" y="4334256"/>
            <a:ext cx="47548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9–11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479792" y="4800600"/>
            <a:ext cx="2487168" cy="521208"/>
          </a:xfrm>
          <a:prstGeom prst="roundRect">
            <a:avLst>
              <a:gd name="adj" fmla="val 14035"/>
            </a:avLst>
          </a:prstGeom>
          <a:solidFill>
            <a:srgbClr val="4CD964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525512" y="4873752"/>
            <a:ext cx="239572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525512" y="5084064"/>
            <a:ext cx="239572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5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users/queues, daily monitoring</a:t>
            </a:r>
            <a:endParaRPr lang="en-US" sz="540" dirty="0"/>
          </a:p>
        </p:txBody>
      </p:sp>
      <p:sp>
        <p:nvSpPr>
          <p:cNvPr id="48" name="Text 46"/>
          <p:cNvSpPr/>
          <p:nvPr/>
        </p:nvSpPr>
        <p:spPr>
          <a:xfrm>
            <a:off x="658368" y="4919472"/>
            <a:ext cx="47548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11–15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0588752" y="5385816"/>
            <a:ext cx="457200" cy="521208"/>
          </a:xfrm>
          <a:prstGeom prst="roundRect">
            <a:avLst>
              <a:gd name="adj" fmla="val 16000"/>
            </a:avLst>
          </a:prstGeom>
          <a:solidFill>
            <a:srgbClr val="27D3FF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0634472" y="5458968"/>
            <a:ext cx="3657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0634472" y="5669280"/>
            <a:ext cx="36576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5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comparison, ROI, scale decision</a:t>
            </a:r>
            <a:endParaRPr lang="en-US" sz="540" dirty="0"/>
          </a:p>
        </p:txBody>
      </p:sp>
      <p:sp>
        <p:nvSpPr>
          <p:cNvPr id="52" name="Text 50"/>
          <p:cNvSpPr/>
          <p:nvPr/>
        </p:nvSpPr>
        <p:spPr>
          <a:xfrm>
            <a:off x="658368" y="5504688"/>
            <a:ext cx="47548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868680" y="5833872"/>
            <a:ext cx="10195560" cy="320040"/>
          </a:xfrm>
          <a:prstGeom prst="roundRect">
            <a:avLst>
              <a:gd name="adj" fmla="val 22857"/>
            </a:avLst>
          </a:prstGeom>
          <a:solidFill>
            <a:srgbClr val="0B1F3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033272" y="5971032"/>
            <a:ext cx="1280160" cy="274320"/>
          </a:xfrm>
          <a:prstGeom prst="roundRect">
            <a:avLst>
              <a:gd name="adj" fmla="val 33333"/>
            </a:avLst>
          </a:prstGeom>
          <a:solidFill>
            <a:srgbClr val="FF9F43">
              <a:alpha val="94000"/>
            </a:srgbClr>
          </a:solidFill>
          <a:ln w="12700">
            <a:solidFill>
              <a:srgbClr val="FF9F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106424" y="6035040"/>
            <a:ext cx="113385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DPIA explained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1051560" y="6364224"/>
            <a:ext cx="9829800" cy="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DPIA = Data Protection Impact Assessment: a structured review of privacy risks before production use.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48640" y="6537960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Springboard × Globe Telecom | AI CX operations &amp; assurance — simplified stakeholder deck</a:t>
            </a:r>
            <a:endParaRPr lang="en-US" sz="630" dirty="0"/>
          </a:p>
        </p:txBody>
      </p:sp>
      <p:sp>
        <p:nvSpPr>
          <p:cNvPr id="58" name="Text 56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5"/>
          </a:solidFill>
          <a:ln w="12700">
            <a:solidFill>
              <a:srgbClr val="071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 measurement dashboard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simple scorecards so non-technical stakeholders can see whether the pilot is working.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417320" cy="0"/>
          </a:xfrm>
          <a:prstGeom prst="line">
            <a:avLst/>
          </a:prstGeom>
          <a:noFill/>
          <a:ln w="254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2971800" cy="1078992"/>
          </a:xfrm>
          <a:prstGeom prst="roundRect">
            <a:avLst>
              <a:gd name="adj" fmla="val 6780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673352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7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impact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965960"/>
            <a:ext cx="2468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CSAT = Customer Satisfaction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NPS = Net Promoter Score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contacts, escalations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480560" y="1508760"/>
            <a:ext cx="2971800" cy="1078992"/>
          </a:xfrm>
          <a:prstGeom prst="roundRect">
            <a:avLst>
              <a:gd name="adj" fmla="val 6780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673352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7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81728" y="1965960"/>
            <a:ext cx="2468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AHT = Average Handle Time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ACW = After-Call Work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Backlog and case cycle time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8183880" y="1508760"/>
            <a:ext cx="2971800" cy="1078992"/>
          </a:xfrm>
          <a:prstGeom prst="roundRect">
            <a:avLst>
              <a:gd name="adj" fmla="val 6780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66760" y="1673352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7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85048" y="1965960"/>
            <a:ext cx="2468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score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defects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AI-human agreement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77240" y="3172968"/>
            <a:ext cx="2971800" cy="1078992"/>
          </a:xfrm>
          <a:prstGeom prst="roundRect">
            <a:avLst>
              <a:gd name="adj" fmla="val 6780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3337560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7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8408" y="3630168"/>
            <a:ext cx="2468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users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recommendations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edit rate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4480560" y="3172968"/>
            <a:ext cx="2971800" cy="1078992"/>
          </a:xfrm>
          <a:prstGeom prst="roundRect">
            <a:avLst>
              <a:gd name="adj" fmla="val 6780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3337560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7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81728" y="3630168"/>
            <a:ext cx="2468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answer rate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incidents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breaches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8183880" y="3172968"/>
            <a:ext cx="2971800" cy="1078992"/>
          </a:xfrm>
          <a:prstGeom prst="roundRect">
            <a:avLst>
              <a:gd name="adj" fmla="val 6780"/>
            </a:avLst>
          </a:prstGeom>
          <a:solidFill>
            <a:srgbClr val="10263C"/>
          </a:solidFill>
          <a:ln w="12700">
            <a:solidFill>
              <a:srgbClr val="355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66760" y="3337560"/>
            <a:ext cx="2011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7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85048" y="3630168"/>
            <a:ext cx="2468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per contact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Avoidable contacts reduced</a:t>
            </a:r>
            <a:endParaRPr lang="en-US" sz="820" dirty="0"/>
          </a:p>
          <a:p>
            <a:pPr marL="0" indent="0" algn="l">
              <a:buNone/>
            </a:pPr>
            <a:r>
              <a:rPr lang="en-US" sz="82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cost reduction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822960" y="5212080"/>
            <a:ext cx="10378440" cy="749808"/>
          </a:xfrm>
          <a:prstGeom prst="roundRect">
            <a:avLst>
              <a:gd name="adj" fmla="val 9756"/>
            </a:avLst>
          </a:prstGeom>
          <a:solidFill>
            <a:srgbClr val="0B1F33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87552" y="5349240"/>
            <a:ext cx="1280160" cy="274320"/>
          </a:xfrm>
          <a:prstGeom prst="roundRect">
            <a:avLst>
              <a:gd name="adj" fmla="val 33333"/>
            </a:avLst>
          </a:prstGeom>
          <a:solidFill>
            <a:srgbClr val="00C2A8">
              <a:alpha val="94000"/>
            </a:srgbClr>
          </a:solidFill>
          <a:ln w="12700">
            <a:solidFill>
              <a:srgbClr val="00C2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60704" y="5413248"/>
            <a:ext cx="113385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decision gates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1005840" y="5742432"/>
            <a:ext cx="1001268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only if the pilot shows measurable lift versus a control group, stable compliance performance, sustained adoption, no severe incidents, and a clear unit-economics path.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Springboard × Globe Telecom | AI CX operations &amp; assurance — simplified stakeholder deck</a:t>
            </a:r>
            <a:endParaRPr lang="en-US" sz="630" dirty="0"/>
          </a:p>
        </p:txBody>
      </p:sp>
      <p:sp>
        <p:nvSpPr>
          <p:cNvPr id="29" name="Text 27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40" dirty="0"/>
          </a:p>
        </p:txBody>
      </p:sp>
      <p:pic>
        <p:nvPicPr>
          <p:cNvPr id="30" name="Picture 29" descr="Springboard | Manila">
            <a:extLst>
              <a:ext uri="{FF2B5EF4-FFF2-40B4-BE49-F238E27FC236}">
                <a16:creationId xmlns:a16="http://schemas.microsoft.com/office/drawing/2014/main" id="{ACB276D5-C4E7-27DD-75F3-26D3E1FA8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604" y="549656"/>
            <a:ext cx="857504" cy="857504"/>
          </a:xfrm>
          <a:prstGeom prst="rect">
            <a:avLst/>
          </a:prstGeom>
        </p:spPr>
      </p:pic>
      <p:pic>
        <p:nvPicPr>
          <p:cNvPr id="31" name="Picture 30" descr="Globe Philippines Logo">
            <a:extLst>
              <a:ext uri="{FF2B5EF4-FFF2-40B4-BE49-F238E27FC236}">
                <a16:creationId xmlns:a16="http://schemas.microsoft.com/office/drawing/2014/main" id="{85F2A548-2555-487D-BD29-909CE44CF4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4914" y="537464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5"/>
          </a:solidFill>
          <a:ln w="12700">
            <a:solidFill>
              <a:srgbClr val="0715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— quick glossary and governance references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Acronyms expanded for mixed business, operations, and technology audiences.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417320" cy="0"/>
          </a:xfrm>
          <a:prstGeom prst="line">
            <a:avLst/>
          </a:prstGeom>
          <a:noFill/>
          <a:ln w="25400">
            <a:solidFill>
              <a:srgbClr val="27D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00C2A8">
              <a:alpha val="94000"/>
            </a:srgbClr>
          </a:solidFill>
          <a:ln w="12700">
            <a:solidFill>
              <a:srgbClr val="00C2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392" y="1481328"/>
            <a:ext cx="85953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CX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947672" y="1453896"/>
            <a:ext cx="3657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Experience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777240" y="1856232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2F80ED">
              <a:alpha val="94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0392" y="1920240"/>
            <a:ext cx="85953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1947672" y="1892808"/>
            <a:ext cx="3657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Assurance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777240" y="2295144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FF9F43">
              <a:alpha val="94000"/>
            </a:srgbClr>
          </a:solidFill>
          <a:ln w="12700">
            <a:solidFill>
              <a:srgbClr val="FF9F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0392" y="2359152"/>
            <a:ext cx="85953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1947672" y="2331720"/>
            <a:ext cx="3657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Relationship Management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777240" y="2734056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A8B3FF">
              <a:alpha val="94000"/>
            </a:srgbClr>
          </a:solidFill>
          <a:ln w="12700">
            <a:solidFill>
              <a:srgbClr val="A8B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0392" y="2798064"/>
            <a:ext cx="85953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OSS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1947672" y="2770632"/>
            <a:ext cx="3657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Support Systems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777240" y="3172968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00C2A8">
              <a:alpha val="94000"/>
            </a:srgbClr>
          </a:solidFill>
          <a:ln w="12700">
            <a:solidFill>
              <a:srgbClr val="00C2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50392" y="3236976"/>
            <a:ext cx="85953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BSS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947672" y="3209544"/>
            <a:ext cx="3657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Support Systems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777240" y="361188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2F80ED">
              <a:alpha val="94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50392" y="3675888"/>
            <a:ext cx="85953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1947672" y="3648456"/>
            <a:ext cx="3657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Retrieval-Augmented Generation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77240" y="4050792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FF9F43">
              <a:alpha val="94000"/>
            </a:srgbClr>
          </a:solidFill>
          <a:ln w="12700">
            <a:solidFill>
              <a:srgbClr val="FF9F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50392" y="4114800"/>
            <a:ext cx="85953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1947672" y="4087368"/>
            <a:ext cx="3657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Language Model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6217920" y="141732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A8B3FF">
              <a:alpha val="94000"/>
            </a:srgbClr>
          </a:solidFill>
          <a:ln w="12700">
            <a:solidFill>
              <a:srgbClr val="A8B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91072" y="1481328"/>
            <a:ext cx="85953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HITL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7388352" y="1453896"/>
            <a:ext cx="3657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Human-in-the-loop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6217920" y="1856232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00C2A8">
              <a:alpha val="94000"/>
            </a:srgbClr>
          </a:solidFill>
          <a:ln w="12700">
            <a:solidFill>
              <a:srgbClr val="00C2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91072" y="1920240"/>
            <a:ext cx="85953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PII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7388352" y="1892808"/>
            <a:ext cx="3657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Personally Identifiable Information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6217920" y="2295144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2F80ED">
              <a:alpha val="94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91072" y="2359152"/>
            <a:ext cx="85953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 / ABAC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7388352" y="2331720"/>
            <a:ext cx="3657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 / Attribute-Based Access Control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6217920" y="2734056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FF9F43">
              <a:alpha val="94000"/>
            </a:srgbClr>
          </a:solidFill>
          <a:ln w="12700">
            <a:solidFill>
              <a:srgbClr val="FF9F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91072" y="2798064"/>
            <a:ext cx="85953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DPO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7388352" y="2770632"/>
            <a:ext cx="3657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Protection Officer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6217920" y="3172968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A8B3FF">
              <a:alpha val="94000"/>
            </a:srgbClr>
          </a:solidFill>
          <a:ln w="12700">
            <a:solidFill>
              <a:srgbClr val="A8B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91072" y="3236976"/>
            <a:ext cx="85953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NOC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7388352" y="3209544"/>
            <a:ext cx="3657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Operations Center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6217920" y="361188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00C2A8">
              <a:alpha val="94000"/>
            </a:srgbClr>
          </a:solidFill>
          <a:ln w="12700">
            <a:solidFill>
              <a:srgbClr val="00C2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91072" y="3675888"/>
            <a:ext cx="85953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7388352" y="3648456"/>
            <a:ext cx="3657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Level Agreement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6217920" y="4050792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2F80ED">
              <a:alpha val="94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91072" y="4114800"/>
            <a:ext cx="85953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IVR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7388352" y="4087368"/>
            <a:ext cx="3657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Voice Response</a:t>
            </a:r>
            <a:endParaRPr lang="en-US" sz="860" dirty="0"/>
          </a:p>
        </p:txBody>
      </p:sp>
      <p:sp>
        <p:nvSpPr>
          <p:cNvPr id="48" name="Text 46"/>
          <p:cNvSpPr/>
          <p:nvPr/>
        </p:nvSpPr>
        <p:spPr>
          <a:xfrm>
            <a:off x="777240" y="4892040"/>
            <a:ext cx="3840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references used in the recommendation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14400" y="5285232"/>
            <a:ext cx="9875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Philippines National Privacy Commission AI guidance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914400" y="5541264"/>
            <a:ext cx="9875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ASEAN AI Governance and Ethics Guide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914400" y="5797296"/>
            <a:ext cx="9875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Expanded ASEAN Guide on AI Governance and Ethics for Generative AI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914400" y="6053328"/>
            <a:ext cx="9875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AAB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TM Forum-oriented BSS/OSS interoperability and process alignment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548640" y="6537960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3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Springboard × Globe Telecom | AI CX operations &amp; assurance — simplified stakeholder deck</a:t>
            </a:r>
            <a:endParaRPr lang="en-US" sz="630" dirty="0"/>
          </a:p>
        </p:txBody>
      </p:sp>
      <p:sp>
        <p:nvSpPr>
          <p:cNvPr id="54" name="Text 52"/>
          <p:cNvSpPr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7F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40" dirty="0"/>
          </a:p>
        </p:txBody>
      </p:sp>
      <p:pic>
        <p:nvPicPr>
          <p:cNvPr id="55" name="Picture 54" descr="Springboard | Manila">
            <a:extLst>
              <a:ext uri="{FF2B5EF4-FFF2-40B4-BE49-F238E27FC236}">
                <a16:creationId xmlns:a16="http://schemas.microsoft.com/office/drawing/2014/main" id="{1028E50E-9050-0536-D8E5-FDC6458BC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604" y="549656"/>
            <a:ext cx="857504" cy="857504"/>
          </a:xfrm>
          <a:prstGeom prst="rect">
            <a:avLst/>
          </a:prstGeom>
        </p:spPr>
      </p:pic>
      <p:pic>
        <p:nvPicPr>
          <p:cNvPr id="56" name="Picture 55" descr="Globe Philippines Logo">
            <a:extLst>
              <a:ext uri="{FF2B5EF4-FFF2-40B4-BE49-F238E27FC236}">
                <a16:creationId xmlns:a16="http://schemas.microsoft.com/office/drawing/2014/main" id="{5F2E541A-5A25-4609-866E-68E732E9E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4914" y="537464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61120" y="0"/>
            <a:ext cx="3291840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Discovery questionnaire 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9875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AB8C5"/>
                </a:solidFill>
                <a:latin typeface="Aptos"/>
              </a:rPr>
              <a:t>Use this to align Globe, CX, technology, risk, and delivery stakeholders before the pilot build.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417320" cy="22860"/>
          </a:xfrm>
          <a:prstGeom prst="rect">
            <a:avLst/>
          </a:prstGeom>
          <a:solidFill>
            <a:srgbClr val="2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166360" cy="1097280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627632"/>
            <a:ext cx="1280160" cy="228600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l"/>
            <a:r>
              <a:rPr sz="1400" b="1">
                <a:solidFill>
                  <a:srgbClr val="27D3FF"/>
                </a:solidFill>
                <a:latin typeface="Aptos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45262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19" b="0">
                <a:solidFill>
                  <a:srgbClr val="EAF3FF"/>
                </a:solidFill>
                <a:latin typeface="Aptos"/>
              </a:rPr>
              <a:t>Create a shared fact base: business objectives, customer pain points, data readiness, operating constraints, governance requirements, and pilot success measures.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166360" cy="1097280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1627632"/>
            <a:ext cx="1554480" cy="228600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l"/>
            <a:r>
              <a:rPr sz="1400" b="1">
                <a:solidFill>
                  <a:srgbClr val="00C2A8"/>
                </a:solidFill>
                <a:latin typeface="Aptos"/>
              </a:rPr>
              <a:t>How to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993392"/>
            <a:ext cx="45262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19" b="0">
                <a:solidFill>
                  <a:srgbClr val="EAF3FF"/>
                </a:solidFill>
                <a:latin typeface="Aptos"/>
              </a:rPr>
              <a:t>Send before workshops, collect written inputs, then use answers to prioritize scope, integration needs, controls, and stakeholder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37560"/>
            <a:ext cx="2148840" cy="1051560"/>
          </a:xfrm>
          <a:prstGeom prst="roundRect">
            <a:avLst/>
          </a:prstGeom>
          <a:solidFill>
            <a:srgbClr val="0B1F33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41832" y="3511296"/>
            <a:ext cx="384048" cy="256032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8" y="3552444"/>
            <a:ext cx="310896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3511296"/>
            <a:ext cx="1188720" cy="182880"/>
          </a:xfrm>
          <a:prstGeom prst="rect">
            <a:avLst/>
          </a:prstGeom>
          <a:noFill/>
        </p:spPr>
        <p:txBody>
          <a:bodyPr wrap="square">
            <a:normAutofit fontScale="55000" lnSpcReduction="20000"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Pre-read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77639"/>
            <a:ext cx="1737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90" b="0">
                <a:solidFill>
                  <a:srgbClr val="AAB8C5"/>
                </a:solidFill>
                <a:latin typeface="Aptos"/>
              </a:rPr>
              <a:t>Send 3–5 days before discovery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3337560"/>
            <a:ext cx="2148840" cy="1051560"/>
          </a:xfrm>
          <a:prstGeom prst="roundRect">
            <a:avLst/>
          </a:prstGeom>
          <a:solidFill>
            <a:srgbClr val="0B1F33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730752" y="3511296"/>
            <a:ext cx="384048" cy="256032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67328" y="3552444"/>
            <a:ext cx="310896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3511296"/>
            <a:ext cx="1188720" cy="182880"/>
          </a:xfrm>
          <a:prstGeom prst="rect">
            <a:avLst/>
          </a:prstGeom>
          <a:noFill/>
        </p:spPr>
        <p:txBody>
          <a:bodyPr wrap="square">
            <a:normAutofit fontScale="55000" lnSpcReduction="20000"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Interview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977639"/>
            <a:ext cx="1737360" cy="22860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ctr"/>
            <a:r>
              <a:rPr sz="790" b="0">
                <a:solidFill>
                  <a:srgbClr val="AAB8C5"/>
                </a:solidFill>
                <a:latin typeface="Aptos"/>
              </a:rPr>
              <a:t>Run 45–60 min stakeholder sessions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79" y="3337560"/>
            <a:ext cx="2148840" cy="1051560"/>
          </a:xfrm>
          <a:prstGeom prst="roundRect">
            <a:avLst/>
          </a:prstGeom>
          <a:solidFill>
            <a:srgbClr val="0B1F33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519671" y="3511296"/>
            <a:ext cx="384048" cy="256032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56247" y="3552444"/>
            <a:ext cx="310896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7" y="3511296"/>
            <a:ext cx="1188720" cy="182880"/>
          </a:xfrm>
          <a:prstGeom prst="rect">
            <a:avLst/>
          </a:prstGeom>
          <a:noFill/>
        </p:spPr>
        <p:txBody>
          <a:bodyPr wrap="square">
            <a:normAutofit fontScale="55000" lnSpcReduction="20000"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Synthesize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3977639"/>
            <a:ext cx="1737360" cy="22860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ctr"/>
            <a:r>
              <a:rPr sz="790" b="0">
                <a:solidFill>
                  <a:srgbClr val="AAB8C5"/>
                </a:solidFill>
                <a:latin typeface="Aptos"/>
              </a:rPr>
              <a:t>Score themes by value, risk, and effort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3999" y="3337560"/>
            <a:ext cx="2148840" cy="1051560"/>
          </a:xfrm>
          <a:prstGeom prst="roundRect">
            <a:avLst/>
          </a:prstGeom>
          <a:solidFill>
            <a:srgbClr val="0B1F33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308591" y="3511296"/>
            <a:ext cx="384048" cy="256032"/>
          </a:xfrm>
          <a:prstGeom prst="roundRect">
            <a:avLst/>
          </a:prstGeom>
          <a:solidFill>
            <a:srgbClr val="A8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45167" y="3552444"/>
            <a:ext cx="310896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7" y="3511296"/>
            <a:ext cx="1188720" cy="182880"/>
          </a:xfrm>
          <a:prstGeom prst="rect">
            <a:avLst/>
          </a:prstGeom>
          <a:noFill/>
        </p:spPr>
        <p:txBody>
          <a:bodyPr wrap="square">
            <a:normAutofit fontScale="55000" lnSpcReduction="20000"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Decide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79" y="3977639"/>
            <a:ext cx="1737360" cy="22860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ctr"/>
            <a:r>
              <a:rPr sz="790" b="0">
                <a:solidFill>
                  <a:srgbClr val="AAB8C5"/>
                </a:solidFill>
                <a:latin typeface="Aptos"/>
              </a:rPr>
              <a:t>Lock pilot scope and success metrics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120640"/>
            <a:ext cx="10195560" cy="685800"/>
          </a:xfrm>
          <a:prstGeom prst="roundRect">
            <a:avLst/>
          </a:prstGeom>
          <a:solidFill>
            <a:srgbClr val="0E2A43"/>
          </a:solidFill>
          <a:ln w="9525">
            <a:solidFill>
              <a:srgbClr val="2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43000" y="5321808"/>
            <a:ext cx="1371600" cy="182880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l"/>
            <a:r>
              <a:rPr sz="1050" b="1">
                <a:solidFill>
                  <a:srgbClr val="27D3FF"/>
                </a:solidFill>
                <a:latin typeface="Aptos"/>
              </a:rPr>
              <a:t>Output expected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5321808"/>
            <a:ext cx="8138160" cy="201168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/>
            <a:r>
              <a:rPr sz="919" b="0">
                <a:solidFill>
                  <a:srgbClr val="EAF3FF"/>
                </a:solidFill>
                <a:latin typeface="Aptos"/>
              </a:rPr>
              <a:t>A pilot charter with agreed use cases, stakeholders, data sources, governance controls, timeline, success metrics, and open decisions.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19672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">
                <a:solidFill>
                  <a:srgbClr val="7F8EA3"/>
                </a:solidFill>
                <a:latin typeface="Aptos"/>
              </a:rPr>
              <a:t>Springboard × Globe Telecom | Discovery questionnaire kit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20">
                <a:solidFill>
                  <a:srgbClr val="7F8EA3"/>
                </a:solidFill>
                <a:latin typeface="Aptos"/>
              </a:rPr>
              <a:t>17</a:t>
            </a:r>
          </a:p>
        </p:txBody>
      </p:sp>
      <p:pic>
        <p:nvPicPr>
          <p:cNvPr id="37" name="Picture 36" descr="Springboard | Manila">
            <a:extLst>
              <a:ext uri="{FF2B5EF4-FFF2-40B4-BE49-F238E27FC236}">
                <a16:creationId xmlns:a16="http://schemas.microsoft.com/office/drawing/2014/main" id="{BECC651D-5626-436A-4561-449523EEA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604" y="549656"/>
            <a:ext cx="857504" cy="857504"/>
          </a:xfrm>
          <a:prstGeom prst="rect">
            <a:avLst/>
          </a:prstGeom>
        </p:spPr>
      </p:pic>
      <p:pic>
        <p:nvPicPr>
          <p:cNvPr id="38" name="Picture 37" descr="Globe Philippines Logo">
            <a:extLst>
              <a:ext uri="{FF2B5EF4-FFF2-40B4-BE49-F238E27FC236}">
                <a16:creationId xmlns:a16="http://schemas.microsoft.com/office/drawing/2014/main" id="{AE11B238-E3AE-35AB-D0AB-60B3B7829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914" y="537464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61120" y="0"/>
            <a:ext cx="3291840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Questionnaire — Executive sponsors &amp; decision makers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9875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AB8C5"/>
                </a:solidFill>
                <a:latin typeface="Aptos"/>
              </a:rPr>
              <a:t>Goal: confirm strategic intent, funding logic, decision rights, and tolerance for pilot risk.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417320" cy="22860"/>
          </a:xfrm>
          <a:prstGeom prst="rect">
            <a:avLst/>
          </a:prstGeom>
          <a:solidFill>
            <a:srgbClr val="2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59" y="1618488"/>
            <a:ext cx="1536192" cy="256032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659636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Theme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56816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Business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2494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Which CX or assurance outcomes matter most?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464308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would make the pilot worth scaling?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679191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Which customer segments or journeys are strategic?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481328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55079" y="1618488"/>
            <a:ext cx="1536192" cy="256032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1655" y="1659636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Theme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5" y="1956816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Decision rights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5" y="22494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Who owns final scope approval?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5" y="2464308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Who approves go-live and scale decisions?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5" y="2679191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Which decisions need Steering Committee review?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08960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59" y="3246120"/>
            <a:ext cx="1536192" cy="256032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287268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Theme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584448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Risk appetite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877056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must AI never do in pilot?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4091940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level of error is tolerable for internal use?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3068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Which reputational risks are most sensitive?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108960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355079" y="3246120"/>
            <a:ext cx="1536192" cy="256032"/>
          </a:xfrm>
          <a:prstGeom prst="roundRect">
            <a:avLst/>
          </a:prstGeom>
          <a:solidFill>
            <a:srgbClr val="A8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91655" y="3287268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Theme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5" y="3584448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Commercial case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5" y="3877056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baseline costs should be measured?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5" y="4091940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Which benefits should be quantified first?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5" y="43068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budget or procurement constraints apply?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9672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">
                <a:solidFill>
                  <a:srgbClr val="7F8EA3"/>
                </a:solidFill>
                <a:latin typeface="Aptos"/>
              </a:rPr>
              <a:t>Springboard × Globe Telecom | Discovery questionnaire kit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20">
                <a:solidFill>
                  <a:srgbClr val="7F8EA3"/>
                </a:solidFill>
                <a:latin typeface="Aptos"/>
              </a:rPr>
              <a:t>18</a:t>
            </a:r>
          </a:p>
        </p:txBody>
      </p:sp>
      <p:pic>
        <p:nvPicPr>
          <p:cNvPr id="36" name="Picture 35" descr="Springboard | Manila">
            <a:extLst>
              <a:ext uri="{FF2B5EF4-FFF2-40B4-BE49-F238E27FC236}">
                <a16:creationId xmlns:a16="http://schemas.microsoft.com/office/drawing/2014/main" id="{355BDACB-A6CE-7CE4-0823-FB7D8B69E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8364" y="5313680"/>
            <a:ext cx="857504" cy="857504"/>
          </a:xfrm>
          <a:prstGeom prst="rect">
            <a:avLst/>
          </a:prstGeom>
        </p:spPr>
      </p:pic>
      <p:pic>
        <p:nvPicPr>
          <p:cNvPr id="37" name="Picture 36" descr="Globe Philippines Logo">
            <a:extLst>
              <a:ext uri="{FF2B5EF4-FFF2-40B4-BE49-F238E27FC236}">
                <a16:creationId xmlns:a16="http://schemas.microsoft.com/office/drawing/2014/main" id="{5F3C1785-4314-9AE6-8D80-0831E373D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674" y="5301488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61120" y="0"/>
            <a:ext cx="3291840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Questionnaire — CX operations &amp; contact center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9875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AB8C5"/>
                </a:solidFill>
                <a:latin typeface="Aptos"/>
              </a:rPr>
              <a:t>Goal: understand current workflows, frontline friction, customer pain points, and adoption needs.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417320" cy="22860"/>
          </a:xfrm>
          <a:prstGeom prst="rect">
            <a:avLst/>
          </a:prstGeom>
          <a:solidFill>
            <a:srgbClr val="2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59" y="1618488"/>
            <a:ext cx="1536192" cy="256032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659636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56816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Operating reality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2494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Which queues have the highest pain today?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464308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Where do agents spend avoidable time?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679191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Which handoffs create delays or rework?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481328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55079" y="1618488"/>
            <a:ext cx="1536192" cy="256032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1655" y="1659636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Customer pain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5" y="1956816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Experience drivers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5" y="22494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Top complaint categories by volume?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5" y="2464308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Where are repeat contacts highest?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5" y="2679191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Which journeys damage trust most?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08960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59" y="3246120"/>
            <a:ext cx="1536192" cy="256032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287268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Agent adoption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584448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Change 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877056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Which agent groups should pilot first?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4091940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support or training is required?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3068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How should feedback be captured?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108960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355079" y="3246120"/>
            <a:ext cx="1536192" cy="256032"/>
          </a:xfrm>
          <a:prstGeom prst="roundRect">
            <a:avLst/>
          </a:prstGeom>
          <a:solidFill>
            <a:srgbClr val="A8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91655" y="3287268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Success 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5" y="3584448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Baseline and 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5" y="3877056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Current Average Handle Time (AHT)?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5" y="4091940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Current First Contact Resolution (FCR)?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5" y="43068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Current Customer Satisfaction (CSAT) or Net Promoter Score (NPS)?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9672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">
                <a:solidFill>
                  <a:srgbClr val="7F8EA3"/>
                </a:solidFill>
                <a:latin typeface="Aptos"/>
              </a:rPr>
              <a:t>Springboard × Globe Telecom | Discovery questionnaire kit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20">
                <a:solidFill>
                  <a:srgbClr val="7F8EA3"/>
                </a:solidFill>
                <a:latin typeface="Aptos"/>
              </a:rPr>
              <a:t>19</a:t>
            </a:r>
          </a:p>
        </p:txBody>
      </p:sp>
      <p:pic>
        <p:nvPicPr>
          <p:cNvPr id="36" name="Picture 35" descr="Springboard | Manila">
            <a:extLst>
              <a:ext uri="{FF2B5EF4-FFF2-40B4-BE49-F238E27FC236}">
                <a16:creationId xmlns:a16="http://schemas.microsoft.com/office/drawing/2014/main" id="{403FF1D0-64EF-F179-9FFE-B098FD023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8364" y="5313680"/>
            <a:ext cx="857504" cy="857504"/>
          </a:xfrm>
          <a:prstGeom prst="rect">
            <a:avLst/>
          </a:prstGeom>
        </p:spPr>
      </p:pic>
      <p:pic>
        <p:nvPicPr>
          <p:cNvPr id="37" name="Picture 36" descr="Globe Philippines Logo">
            <a:extLst>
              <a:ext uri="{FF2B5EF4-FFF2-40B4-BE49-F238E27FC236}">
                <a16:creationId xmlns:a16="http://schemas.microsoft.com/office/drawing/2014/main" id="{7B7BED86-D925-CEB5-D199-D248AFAE3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674" y="5301488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61120" y="0"/>
            <a:ext cx="3291840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Questionnaire — Quality, compliance, legal, and Data Protection Officer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9875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AB8C5"/>
                </a:solidFill>
                <a:latin typeface="Aptos"/>
              </a:rPr>
              <a:t>Goal: define the quality bar, customer-data controls, audit requirements, and approval thresholds.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417320" cy="22860"/>
          </a:xfrm>
          <a:prstGeom prst="rect">
            <a:avLst/>
          </a:prstGeom>
          <a:solidFill>
            <a:srgbClr val="2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59" y="1618488"/>
            <a:ext cx="1536192" cy="256032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659636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QA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56816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Quality assurance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2494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is the current QA scorecard?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464308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Which defects are critical vs minor?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679191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How is calibration handled today?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481328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55079" y="1618488"/>
            <a:ext cx="1536192" cy="256032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1655" y="1659636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5" y="1956816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Data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5" y="22494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Which data fields are sensitive?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5" y="2464308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consent or preference rules apply?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5" y="2679191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data must be masked or tokenized?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08960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59" y="3246120"/>
            <a:ext cx="1536192" cy="256032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287268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584448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Evidence requirements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877056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must be logged for each AI output?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4091940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How long should audit records be retained?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3068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Who can override AI recommendations?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108960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355079" y="3246120"/>
            <a:ext cx="1536192" cy="256032"/>
          </a:xfrm>
          <a:prstGeom prst="roundRect">
            <a:avLst/>
          </a:prstGeom>
          <a:solidFill>
            <a:srgbClr val="A8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91655" y="3287268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5" y="3584448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Red lines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5" y="3877056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Which scripts, disclosures, or regulatory items are mandatory?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5" y="4091940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Which cases require legal review?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5" y="43068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incident reporting path is required?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9672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">
                <a:solidFill>
                  <a:srgbClr val="7F8EA3"/>
                </a:solidFill>
                <a:latin typeface="Aptos"/>
              </a:rPr>
              <a:t>Springboard × Globe Telecom | Discovery questionnaire kit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20">
                <a:solidFill>
                  <a:srgbClr val="7F8EA3"/>
                </a:solidFill>
                <a:latin typeface="Aptos"/>
              </a:rPr>
              <a:t>20</a:t>
            </a:r>
          </a:p>
        </p:txBody>
      </p:sp>
      <p:pic>
        <p:nvPicPr>
          <p:cNvPr id="36" name="Picture 35" descr="Springboard | Manila">
            <a:extLst>
              <a:ext uri="{FF2B5EF4-FFF2-40B4-BE49-F238E27FC236}">
                <a16:creationId xmlns:a16="http://schemas.microsoft.com/office/drawing/2014/main" id="{81C5BB91-2F3F-8D08-77B9-03A0D15E1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8364" y="5313680"/>
            <a:ext cx="857504" cy="857504"/>
          </a:xfrm>
          <a:prstGeom prst="rect">
            <a:avLst/>
          </a:prstGeom>
        </p:spPr>
      </p:pic>
      <p:pic>
        <p:nvPicPr>
          <p:cNvPr id="37" name="Picture 36" descr="Globe Philippines Logo">
            <a:extLst>
              <a:ext uri="{FF2B5EF4-FFF2-40B4-BE49-F238E27FC236}">
                <a16:creationId xmlns:a16="http://schemas.microsoft.com/office/drawing/2014/main" id="{C49C86C0-8D73-93E5-964B-F684D91F0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674" y="5301488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61120" y="0"/>
            <a:ext cx="3291840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Questionnaire — IT, data, security, and architecture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9875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AB8C5"/>
                </a:solidFill>
                <a:latin typeface="Aptos"/>
              </a:rPr>
              <a:t>Goal: confirm system access, data quality, integration effort, security controls, and vendor-neutral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417320" cy="22860"/>
          </a:xfrm>
          <a:prstGeom prst="rect">
            <a:avLst/>
          </a:prstGeom>
          <a:solidFill>
            <a:srgbClr val="2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59" y="1618488"/>
            <a:ext cx="1536192" cy="256032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659636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56816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Integration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2494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Which CRM, contact-center, QA, and ticketing tools are in scope?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464308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APIs or exports are available?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679191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Which environments can be used for build and test?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481328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55079" y="1618488"/>
            <a:ext cx="1536192" cy="256032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1655" y="1659636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5" y="1956816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Readiness and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5" y="22494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Where are calls, chats, notes, and transcripts stored?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5" y="2464308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languages are present: English, Tagalog, Taglish?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5" y="2679191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data gaps or quality issues are known?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08960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59" y="3246120"/>
            <a:ext cx="1536192" cy="256032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287268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584448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Access and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877056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identity and role controls are required?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4091940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Can production data be used in development?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3068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encryption and key-management standards apply?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108960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355079" y="3246120"/>
            <a:ext cx="1536192" cy="256032"/>
          </a:xfrm>
          <a:prstGeom prst="roundRect">
            <a:avLst/>
          </a:prstGeom>
          <a:solidFill>
            <a:srgbClr val="A8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91655" y="3287268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5" y="3584448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Technology choices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5" y="3877056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Preferred cloud or hybrid constraints?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5" y="4091940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Approved AI model providers?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5" y="43068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Required logging, monitoring, and observability tools?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9672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">
                <a:solidFill>
                  <a:srgbClr val="7F8EA3"/>
                </a:solidFill>
                <a:latin typeface="Aptos"/>
              </a:rPr>
              <a:t>Springboard × Globe Telecom | Discovery questionnaire kit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20">
                <a:solidFill>
                  <a:srgbClr val="7F8EA3"/>
                </a:solidFill>
                <a:latin typeface="Aptos"/>
              </a:rPr>
              <a:t>21</a:t>
            </a:r>
          </a:p>
        </p:txBody>
      </p:sp>
      <p:pic>
        <p:nvPicPr>
          <p:cNvPr id="36" name="Picture 35" descr="Springboard | Manila">
            <a:extLst>
              <a:ext uri="{FF2B5EF4-FFF2-40B4-BE49-F238E27FC236}">
                <a16:creationId xmlns:a16="http://schemas.microsoft.com/office/drawing/2014/main" id="{0844D19F-C7B5-6C1F-6D50-4848E9D5E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8364" y="5313680"/>
            <a:ext cx="857504" cy="857504"/>
          </a:xfrm>
          <a:prstGeom prst="rect">
            <a:avLst/>
          </a:prstGeom>
        </p:spPr>
      </p:pic>
      <p:pic>
        <p:nvPicPr>
          <p:cNvPr id="37" name="Picture 36" descr="Globe Philippines Logo">
            <a:extLst>
              <a:ext uri="{FF2B5EF4-FFF2-40B4-BE49-F238E27FC236}">
                <a16:creationId xmlns:a16="http://schemas.microsoft.com/office/drawing/2014/main" id="{D7D6CF9E-C6E7-C30A-8E24-BDCD67C41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674" y="5301488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61120" y="0"/>
            <a:ext cx="3291840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Questionnaire — Knowledge management, training, and BPO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9875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AB8C5"/>
                </a:solidFill>
                <a:latin typeface="Aptos"/>
              </a:rPr>
              <a:t>Goal: prepare the human operating model: knowledge quality, training, calibration, and BPO alignment.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417320" cy="22860"/>
          </a:xfrm>
          <a:prstGeom prst="rect">
            <a:avLst/>
          </a:prstGeom>
          <a:solidFill>
            <a:srgbClr val="2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59" y="1618488"/>
            <a:ext cx="1536192" cy="256032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659636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56816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Approved answers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2494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Where are SOPs, FAQs, policies, and playbooks stored?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464308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Who owns updates and approvals?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679191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Which articles are outdated or duplicated?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481328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55079" y="1618488"/>
            <a:ext cx="1536192" cy="256032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1655" y="1659636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5" y="1956816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Enablement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5" y="22494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must agents understand before using AI?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5" y="2464308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How should AI suggestions be explained?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5" y="2679191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escalation rules need reinforcement?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08960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59" y="3246120"/>
            <a:ext cx="1536192" cy="256032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287268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BPO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584448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Partner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877056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Which partner sites or teams should join pilot?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4091940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How are QA, coaching, and incentives handled?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3068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contractual or data-sharing limits apply?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108960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355079" y="3246120"/>
            <a:ext cx="1536192" cy="256032"/>
          </a:xfrm>
          <a:prstGeom prst="roundRect">
            <a:avLst/>
          </a:prstGeom>
          <a:solidFill>
            <a:srgbClr val="A8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91655" y="3287268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5" y="3584448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Continuous improvement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5" y="3877056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How should agents report bad suggestions?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5" y="4091940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Who reviews corrections?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5" y="43068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How often should knowledge be refreshed?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9672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">
                <a:solidFill>
                  <a:srgbClr val="7F8EA3"/>
                </a:solidFill>
                <a:latin typeface="Aptos"/>
              </a:rPr>
              <a:t>Springboard × Globe Telecom | Discovery questionnaire kit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20">
                <a:solidFill>
                  <a:srgbClr val="7F8EA3"/>
                </a:solidFill>
                <a:latin typeface="Aptos"/>
              </a:rPr>
              <a:t>22</a:t>
            </a:r>
          </a:p>
        </p:txBody>
      </p:sp>
      <p:pic>
        <p:nvPicPr>
          <p:cNvPr id="36" name="Picture 35" descr="Springboard | Manila">
            <a:extLst>
              <a:ext uri="{FF2B5EF4-FFF2-40B4-BE49-F238E27FC236}">
                <a16:creationId xmlns:a16="http://schemas.microsoft.com/office/drawing/2014/main" id="{5AB86D0B-770A-4EA4-D163-F48D6DDB5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8364" y="5313680"/>
            <a:ext cx="857504" cy="857504"/>
          </a:xfrm>
          <a:prstGeom prst="rect">
            <a:avLst/>
          </a:prstGeom>
        </p:spPr>
      </p:pic>
      <p:pic>
        <p:nvPicPr>
          <p:cNvPr id="37" name="Picture 36" descr="Globe Philippines Logo">
            <a:extLst>
              <a:ext uri="{FF2B5EF4-FFF2-40B4-BE49-F238E27FC236}">
                <a16:creationId xmlns:a16="http://schemas.microsoft.com/office/drawing/2014/main" id="{D8FF72F2-41FE-74F0-8633-E5776A359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674" y="5301488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61120" y="0"/>
            <a:ext cx="3291840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Questionnaire — Network, product, billing, finance, and fraud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9875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AB8C5"/>
                </a:solidFill>
                <a:latin typeface="Aptos"/>
              </a:rPr>
              <a:t>Goal: include teams that often own the root cause or approval path behind CX issues.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417320" cy="22860"/>
          </a:xfrm>
          <a:prstGeom prst="rect">
            <a:avLst/>
          </a:prstGeom>
          <a:solidFill>
            <a:srgbClr val="2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59" y="1618488"/>
            <a:ext cx="1536192" cy="256032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659636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Network / NOC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56816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Service assurance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2494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Which network events should correlate to complaints?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464308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geographies or products are high priority?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679191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makes a root-cause hypothesis credible?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481328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55079" y="1618488"/>
            <a:ext cx="1536192" cy="256032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1655" y="1659636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5" y="1956816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Journey ownership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5" y="22494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Which product journeys are unstable or complaint-heavy?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5" y="2464308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policy changes are planned?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5" y="2679191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Which segments need special handling?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08960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59" y="3246120"/>
            <a:ext cx="1536192" cy="256032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287268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Billing / Finance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584448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Monetary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877056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credits, refunds, and adjustments require approval?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4091940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leakage or abuse risks exist?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3068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evidence is needed for a decision?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108960"/>
            <a:ext cx="4983480" cy="144475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355079" y="3246120"/>
            <a:ext cx="1536192" cy="256032"/>
          </a:xfrm>
          <a:prstGeom prst="roundRect">
            <a:avLst/>
          </a:prstGeom>
          <a:solidFill>
            <a:srgbClr val="A8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91655" y="3287268"/>
            <a:ext cx="1463039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Fraud /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5" y="3584448"/>
            <a:ext cx="4553712" cy="219456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"/>
              </a:rPr>
              <a:t>Exception handling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5" y="3877056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Which journeys are fraud-sensitive?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5" y="4091940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What indicators should block automation?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5" y="4306824"/>
            <a:ext cx="4434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10" b="0">
                <a:solidFill>
                  <a:srgbClr val="AAB8C5"/>
                </a:solidFill>
                <a:latin typeface="Aptos"/>
              </a:rPr>
              <a:t>• Who approves exceptions or overrides?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9672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">
                <a:solidFill>
                  <a:srgbClr val="7F8EA3"/>
                </a:solidFill>
                <a:latin typeface="Aptos"/>
              </a:rPr>
              <a:t>Springboard × Globe Telecom | Discovery questionnaire kit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20">
                <a:solidFill>
                  <a:srgbClr val="7F8EA3"/>
                </a:solidFill>
                <a:latin typeface="Aptos"/>
              </a:rPr>
              <a:t>23</a:t>
            </a:r>
          </a:p>
        </p:txBody>
      </p:sp>
      <p:pic>
        <p:nvPicPr>
          <p:cNvPr id="36" name="Picture 35" descr="Springboard | Manila">
            <a:extLst>
              <a:ext uri="{FF2B5EF4-FFF2-40B4-BE49-F238E27FC236}">
                <a16:creationId xmlns:a16="http://schemas.microsoft.com/office/drawing/2014/main" id="{77A8277E-DA7E-2640-F2AF-AF99FFB04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8364" y="5313680"/>
            <a:ext cx="857504" cy="857504"/>
          </a:xfrm>
          <a:prstGeom prst="rect">
            <a:avLst/>
          </a:prstGeom>
        </p:spPr>
      </p:pic>
      <p:pic>
        <p:nvPicPr>
          <p:cNvPr id="37" name="Picture 36" descr="Globe Philippines Logo">
            <a:extLst>
              <a:ext uri="{FF2B5EF4-FFF2-40B4-BE49-F238E27FC236}">
                <a16:creationId xmlns:a16="http://schemas.microsoft.com/office/drawing/2014/main" id="{8DFC900E-3829-1BE3-D7CC-F898D2152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674" y="5301488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61120" y="0"/>
            <a:ext cx="3291840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Evidence request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9875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AB8C5"/>
                </a:solidFill>
                <a:latin typeface="Aptos"/>
              </a:rPr>
              <a:t>Ask for examples, not just opinions. These artifacts make discovery faster and more objective.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417320" cy="22860"/>
          </a:xfrm>
          <a:prstGeom prst="rect">
            <a:avLst/>
          </a:prstGeom>
          <a:solidFill>
            <a:srgbClr val="2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417320"/>
            <a:ext cx="5074920" cy="80467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1572768"/>
            <a:ext cx="12344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l"/>
            <a:r>
              <a:rPr sz="940" b="1">
                <a:solidFill>
                  <a:srgbClr val="27D3FF"/>
                </a:solidFill>
                <a:latin typeface="Aptos"/>
              </a:rPr>
              <a:t>CX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7984" y="1554480"/>
            <a:ext cx="33832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80" b="0">
                <a:solidFill>
                  <a:srgbClr val="AAB8C5"/>
                </a:solidFill>
                <a:latin typeface="Aptos"/>
              </a:rPr>
              <a:t>Last 60–90 days: contact volumes, reasons, AHT, FCR, CSAT/NPS, repeat contacts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17320"/>
            <a:ext cx="5074920" cy="80467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64224" y="1572768"/>
            <a:ext cx="12344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l"/>
            <a:r>
              <a:rPr sz="940" b="1">
                <a:solidFill>
                  <a:srgbClr val="27D3FF"/>
                </a:solidFill>
                <a:latin typeface="Aptos"/>
              </a:rPr>
              <a:t>Interaction samples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44383" y="1554480"/>
            <a:ext cx="33832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80" b="0">
                <a:solidFill>
                  <a:srgbClr val="AAB8C5"/>
                </a:solidFill>
                <a:latin typeface="Aptos"/>
              </a:rPr>
              <a:t>De-identified call/chat/email examples for priority queues and complaint types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496312"/>
            <a:ext cx="5074920" cy="80467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" y="2651760"/>
            <a:ext cx="12344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l"/>
            <a:r>
              <a:rPr sz="940" b="1">
                <a:solidFill>
                  <a:srgbClr val="27D3FF"/>
                </a:solidFill>
                <a:latin typeface="Aptos"/>
              </a:rPr>
              <a:t>QA materials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57984" y="2633472"/>
            <a:ext cx="33832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80" b="0">
                <a:solidFill>
                  <a:srgbClr val="AAB8C5"/>
                </a:solidFill>
                <a:latin typeface="Aptos"/>
              </a:rPr>
              <a:t>Scorecards, calibration guides, defect definitions, coaching templates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2496312"/>
            <a:ext cx="5074920" cy="80467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64224" y="2651760"/>
            <a:ext cx="12344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l"/>
            <a:r>
              <a:rPr sz="940" b="1">
                <a:solidFill>
                  <a:srgbClr val="27D3FF"/>
                </a:solidFill>
                <a:latin typeface="Aptos"/>
              </a:rPr>
              <a:t>Knowledge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44383" y="2633472"/>
            <a:ext cx="33832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80" b="0">
                <a:solidFill>
                  <a:srgbClr val="AAB8C5"/>
                </a:solidFill>
                <a:latin typeface="Aptos"/>
              </a:rPr>
              <a:t>Approved SOPs, FAQs, policy pages, escalation rules, version owners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575304"/>
            <a:ext cx="5074920" cy="80467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3730752"/>
            <a:ext cx="12344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l"/>
            <a:r>
              <a:rPr sz="940" b="1">
                <a:solidFill>
                  <a:srgbClr val="27D3FF"/>
                </a:solidFill>
                <a:latin typeface="Aptos"/>
              </a:rPr>
              <a:t>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7984" y="3712464"/>
            <a:ext cx="33832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80" b="0">
                <a:solidFill>
                  <a:srgbClr val="AAB8C5"/>
                </a:solidFill>
                <a:latin typeface="Aptos"/>
              </a:rPr>
              <a:t>System diagrams, API catalogs, data dictionaries, access constraints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575304"/>
            <a:ext cx="5074920" cy="80467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64224" y="3730752"/>
            <a:ext cx="12344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l"/>
            <a:r>
              <a:rPr sz="940" b="1">
                <a:solidFill>
                  <a:srgbClr val="27D3FF"/>
                </a:solidFill>
                <a:latin typeface="Aptos"/>
              </a:rPr>
              <a:t>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4383" y="3712464"/>
            <a:ext cx="33832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80" b="0">
                <a:solidFill>
                  <a:srgbClr val="AAB8C5"/>
                </a:solidFill>
                <a:latin typeface="Aptos"/>
              </a:rPr>
              <a:t>Privacy policies, retention rules, consent/preference rules, vendor requirements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654296"/>
            <a:ext cx="5074920" cy="80467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7824" y="4809744"/>
            <a:ext cx="12344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l"/>
            <a:r>
              <a:rPr sz="940" b="1">
                <a:solidFill>
                  <a:srgbClr val="27D3FF"/>
                </a:solidFill>
                <a:latin typeface="Aptos"/>
              </a:rPr>
              <a:t>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57984" y="4791456"/>
            <a:ext cx="33832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80" b="0">
                <a:solidFill>
                  <a:srgbClr val="AAB8C5"/>
                </a:solidFill>
                <a:latin typeface="Aptos"/>
              </a:rPr>
              <a:t>Org chart, queue design, BPO roster, training plan, escalation matrix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4654296"/>
            <a:ext cx="5074920" cy="804672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64224" y="4809744"/>
            <a:ext cx="123444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l"/>
            <a:r>
              <a:rPr sz="940" b="1">
                <a:solidFill>
                  <a:srgbClr val="27D3FF"/>
                </a:solidFill>
                <a:latin typeface="Aptos"/>
              </a:rPr>
              <a:t>Assurance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4383" y="4791456"/>
            <a:ext cx="33832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80" b="0">
                <a:solidFill>
                  <a:srgbClr val="AAB8C5"/>
                </a:solidFill>
                <a:latin typeface="Aptos"/>
              </a:rPr>
              <a:t>Network alarm examples, outage ticket samples, service KPI definitions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19672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">
                <a:solidFill>
                  <a:srgbClr val="7F8EA3"/>
                </a:solidFill>
                <a:latin typeface="Aptos"/>
              </a:rPr>
              <a:t>Springboard × Globe Telecom | Discovery questionnaire kit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20">
                <a:solidFill>
                  <a:srgbClr val="7F8EA3"/>
                </a:solidFill>
                <a:latin typeface="Aptos"/>
              </a:rPr>
              <a:t>24</a:t>
            </a:r>
          </a:p>
        </p:txBody>
      </p:sp>
      <p:pic>
        <p:nvPicPr>
          <p:cNvPr id="32" name="Picture 31" descr="Springboard | Manila">
            <a:extLst>
              <a:ext uri="{FF2B5EF4-FFF2-40B4-BE49-F238E27FC236}">
                <a16:creationId xmlns:a16="http://schemas.microsoft.com/office/drawing/2014/main" id="{2D36AF8B-6CBF-A7F3-EC58-B8542DFE9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604" y="549656"/>
            <a:ext cx="857504" cy="857504"/>
          </a:xfrm>
          <a:prstGeom prst="rect">
            <a:avLst/>
          </a:prstGeom>
        </p:spPr>
      </p:pic>
      <p:pic>
        <p:nvPicPr>
          <p:cNvPr id="33" name="Picture 32" descr="Globe Philippines Logo">
            <a:extLst>
              <a:ext uri="{FF2B5EF4-FFF2-40B4-BE49-F238E27FC236}">
                <a16:creationId xmlns:a16="http://schemas.microsoft.com/office/drawing/2014/main" id="{C25691CE-494E-9F6A-0751-DB6CCD668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914" y="537464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61120" y="0"/>
            <a:ext cx="3291840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Discovery synthesis — scoring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9875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AB8C5"/>
                </a:solidFill>
                <a:latin typeface="Aptos"/>
              </a:rPr>
              <a:t>Convert stakeholder answers into a transparent pilot decision.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417320" cy="22860"/>
          </a:xfrm>
          <a:prstGeom prst="rect">
            <a:avLst/>
          </a:prstGeom>
          <a:solidFill>
            <a:srgbClr val="2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1325880" cy="438912"/>
          </a:xfrm>
          <a:prstGeom prst="rect">
            <a:avLst/>
          </a:prstGeom>
          <a:solidFill>
            <a:srgbClr val="0E2A43"/>
          </a:solidFill>
          <a:ln w="9525">
            <a:solidFill>
              <a:srgbClr val="2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" y="1627631"/>
            <a:ext cx="1252728" cy="128016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Aptos"/>
              </a:rPr>
              <a:t>Use 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1508760"/>
            <a:ext cx="1280160" cy="438912"/>
          </a:xfrm>
          <a:prstGeom prst="rect">
            <a:avLst/>
          </a:prstGeom>
          <a:solidFill>
            <a:srgbClr val="0E2A43"/>
          </a:solidFill>
          <a:ln w="9525">
            <a:solidFill>
              <a:srgbClr val="2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85416" y="1627631"/>
            <a:ext cx="1207007" cy="128016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Aptos"/>
              </a:rPr>
              <a:t>Business value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508760"/>
            <a:ext cx="1280160" cy="438912"/>
          </a:xfrm>
          <a:prstGeom prst="rect">
            <a:avLst/>
          </a:prstGeom>
          <a:solidFill>
            <a:srgbClr val="0E2A43"/>
          </a:solidFill>
          <a:ln w="9525">
            <a:solidFill>
              <a:srgbClr val="2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94176" y="1627631"/>
            <a:ext cx="1207007" cy="128016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Aptos"/>
              </a:rPr>
              <a:t>Customer impact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1508760"/>
            <a:ext cx="1280160" cy="438912"/>
          </a:xfrm>
          <a:prstGeom prst="rect">
            <a:avLst/>
          </a:prstGeom>
          <a:solidFill>
            <a:srgbClr val="0E2A43"/>
          </a:solidFill>
          <a:ln w="9525">
            <a:solidFill>
              <a:srgbClr val="2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02936" y="1627631"/>
            <a:ext cx="1207007" cy="128016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Aptos"/>
              </a:rPr>
              <a:t>Data readiness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1508760"/>
            <a:ext cx="1417320" cy="438912"/>
          </a:xfrm>
          <a:prstGeom prst="rect">
            <a:avLst/>
          </a:prstGeom>
          <a:solidFill>
            <a:srgbClr val="0E2A43"/>
          </a:solidFill>
          <a:ln w="9525">
            <a:solidFill>
              <a:srgbClr val="2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65976" y="1627631"/>
            <a:ext cx="1344168" cy="128016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Aptos"/>
              </a:rPr>
              <a:t>Implementation effort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1508760"/>
            <a:ext cx="1143000" cy="438912"/>
          </a:xfrm>
          <a:prstGeom prst="rect">
            <a:avLst/>
          </a:prstGeom>
          <a:solidFill>
            <a:srgbClr val="0E2A43"/>
          </a:solidFill>
          <a:ln w="9525">
            <a:solidFill>
              <a:srgbClr val="2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11896" y="1627631"/>
            <a:ext cx="1069848" cy="128016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Aptos"/>
              </a:rPr>
              <a:t>Risk level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46920" y="1508760"/>
            <a:ext cx="1234440" cy="438912"/>
          </a:xfrm>
          <a:prstGeom prst="rect">
            <a:avLst/>
          </a:prstGeom>
          <a:solidFill>
            <a:srgbClr val="0E2A43"/>
          </a:solidFill>
          <a:ln w="9525">
            <a:solidFill>
              <a:srgbClr val="2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83496" y="1627631"/>
            <a:ext cx="1161288" cy="128016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Aptos"/>
              </a:rPr>
              <a:t>Pilot fit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1993392"/>
            <a:ext cx="1325880" cy="475488"/>
          </a:xfrm>
          <a:prstGeom prst="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1" y="2112264"/>
            <a:ext cx="1197864" cy="13716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/>
            <a:r>
              <a:rPr sz="690" b="0">
                <a:solidFill>
                  <a:srgbClr val="EAF3FF"/>
                </a:solidFill>
                <a:latin typeface="Aptos"/>
              </a:rPr>
              <a:t>CX Assurance Analyst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8840" y="1993392"/>
            <a:ext cx="1280160" cy="475488"/>
          </a:xfrm>
          <a:prstGeom prst="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40280" y="2130552"/>
            <a:ext cx="109728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1993392"/>
            <a:ext cx="1280160" cy="475488"/>
          </a:xfrm>
          <a:prstGeom prst="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49039" y="2130552"/>
            <a:ext cx="109728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66360" y="1993392"/>
            <a:ext cx="1280160" cy="475488"/>
          </a:xfrm>
          <a:prstGeom prst="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57800" y="2130552"/>
            <a:ext cx="109728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1993392"/>
            <a:ext cx="1417320" cy="475488"/>
          </a:xfrm>
          <a:prstGeom prst="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20840" y="2130552"/>
            <a:ext cx="123444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20" y="1993392"/>
            <a:ext cx="1143000" cy="475488"/>
          </a:xfrm>
          <a:prstGeom prst="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66760" y="2130552"/>
            <a:ext cx="96012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46920" y="1993392"/>
            <a:ext cx="1234440" cy="475488"/>
          </a:xfrm>
          <a:prstGeom prst="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38360" y="2130552"/>
            <a:ext cx="105156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2651760"/>
            <a:ext cx="1325880" cy="475488"/>
          </a:xfrm>
          <a:prstGeom prst="rect">
            <a:avLst/>
          </a:prstGeom>
          <a:solidFill>
            <a:srgbClr val="0B1F33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1" y="2770632"/>
            <a:ext cx="1197864" cy="13716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/>
            <a:r>
              <a:rPr sz="690" b="0">
                <a:solidFill>
                  <a:srgbClr val="EAF3FF"/>
                </a:solidFill>
                <a:latin typeface="Aptos"/>
              </a:rPr>
              <a:t>Agent Assist + Knowledge Copilot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48840" y="2651760"/>
            <a:ext cx="1280160" cy="475488"/>
          </a:xfrm>
          <a:prstGeom prst="rect">
            <a:avLst/>
          </a:prstGeom>
          <a:solidFill>
            <a:srgbClr val="0B1F33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240280" y="2788920"/>
            <a:ext cx="109728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0" y="2651760"/>
            <a:ext cx="1280160" cy="475488"/>
          </a:xfrm>
          <a:prstGeom prst="rect">
            <a:avLst/>
          </a:prstGeom>
          <a:solidFill>
            <a:srgbClr val="0B1F33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749039" y="2788920"/>
            <a:ext cx="109728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66360" y="2651760"/>
            <a:ext cx="1280160" cy="475488"/>
          </a:xfrm>
          <a:prstGeom prst="rect">
            <a:avLst/>
          </a:prstGeom>
          <a:solidFill>
            <a:srgbClr val="0B1F33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57800" y="2788920"/>
            <a:ext cx="109728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29400" y="2651760"/>
            <a:ext cx="1417320" cy="475488"/>
          </a:xfrm>
          <a:prstGeom prst="rect">
            <a:avLst/>
          </a:prstGeom>
          <a:solidFill>
            <a:srgbClr val="0B1F33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20840" y="2788920"/>
            <a:ext cx="123444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5320" y="2651760"/>
            <a:ext cx="1143000" cy="475488"/>
          </a:xfrm>
          <a:prstGeom prst="rect">
            <a:avLst/>
          </a:prstGeom>
          <a:solidFill>
            <a:srgbClr val="0B1F33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66760" y="2788920"/>
            <a:ext cx="96012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6920" y="2651760"/>
            <a:ext cx="1234440" cy="475488"/>
          </a:xfrm>
          <a:prstGeom prst="rect">
            <a:avLst/>
          </a:prstGeom>
          <a:solidFill>
            <a:srgbClr val="0B1F33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738360" y="2788920"/>
            <a:ext cx="105156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3310128"/>
            <a:ext cx="1325880" cy="475488"/>
          </a:xfrm>
          <a:prstGeom prst="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13231" y="3429000"/>
            <a:ext cx="1197864" cy="13716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/>
            <a:r>
              <a:rPr sz="690" b="0">
                <a:solidFill>
                  <a:srgbClr val="EAF3FF"/>
                </a:solidFill>
                <a:latin typeface="Aptos"/>
              </a:rPr>
              <a:t>Network–CX Correlation Agent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48840" y="3310128"/>
            <a:ext cx="1280160" cy="475488"/>
          </a:xfrm>
          <a:prstGeom prst="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240280" y="3447288"/>
            <a:ext cx="109728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0" y="3310128"/>
            <a:ext cx="1280160" cy="475488"/>
          </a:xfrm>
          <a:prstGeom prst="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749039" y="3447288"/>
            <a:ext cx="109728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66360" y="3310128"/>
            <a:ext cx="1280160" cy="475488"/>
          </a:xfrm>
          <a:prstGeom prst="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57800" y="3447288"/>
            <a:ext cx="109728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29400" y="3310128"/>
            <a:ext cx="1417320" cy="475488"/>
          </a:xfrm>
          <a:prstGeom prst="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720840" y="3447288"/>
            <a:ext cx="123444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75320" y="3310128"/>
            <a:ext cx="1143000" cy="475488"/>
          </a:xfrm>
          <a:prstGeom prst="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66760" y="3447288"/>
            <a:ext cx="96012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46920" y="3310128"/>
            <a:ext cx="1234440" cy="475488"/>
          </a:xfrm>
          <a:prstGeom prst="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738360" y="3447288"/>
            <a:ext cx="105156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3968496"/>
            <a:ext cx="1325880" cy="475488"/>
          </a:xfrm>
          <a:prstGeom prst="rect">
            <a:avLst/>
          </a:prstGeom>
          <a:solidFill>
            <a:srgbClr val="0B1F33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13231" y="4087368"/>
            <a:ext cx="1197864" cy="137160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/>
            <a:r>
              <a:rPr sz="690" b="0">
                <a:solidFill>
                  <a:srgbClr val="EAF3FF"/>
                </a:solidFill>
                <a:latin typeface="Aptos"/>
              </a:rPr>
              <a:t>Back-office Case Resolution Copilot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48840" y="3968496"/>
            <a:ext cx="1280160" cy="475488"/>
          </a:xfrm>
          <a:prstGeom prst="rect">
            <a:avLst/>
          </a:prstGeom>
          <a:solidFill>
            <a:srgbClr val="0B1F33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240280" y="4105656"/>
            <a:ext cx="109728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0" y="3968496"/>
            <a:ext cx="1280160" cy="475488"/>
          </a:xfrm>
          <a:prstGeom prst="rect">
            <a:avLst/>
          </a:prstGeom>
          <a:solidFill>
            <a:srgbClr val="0B1F33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749039" y="4105656"/>
            <a:ext cx="109728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66360" y="3968496"/>
            <a:ext cx="1280160" cy="475488"/>
          </a:xfrm>
          <a:prstGeom prst="rect">
            <a:avLst/>
          </a:prstGeom>
          <a:solidFill>
            <a:srgbClr val="0B1F33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257800" y="4105656"/>
            <a:ext cx="109728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29400" y="3968496"/>
            <a:ext cx="1417320" cy="475488"/>
          </a:xfrm>
          <a:prstGeom prst="rect">
            <a:avLst/>
          </a:prstGeom>
          <a:solidFill>
            <a:srgbClr val="0B1F33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720840" y="4105656"/>
            <a:ext cx="123444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75320" y="3968496"/>
            <a:ext cx="1143000" cy="475488"/>
          </a:xfrm>
          <a:prstGeom prst="rect">
            <a:avLst/>
          </a:prstGeom>
          <a:solidFill>
            <a:srgbClr val="0B1F33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66760" y="4105656"/>
            <a:ext cx="96012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46920" y="3968496"/>
            <a:ext cx="1234440" cy="475488"/>
          </a:xfrm>
          <a:prstGeom prst="rect">
            <a:avLst/>
          </a:prstGeom>
          <a:solidFill>
            <a:srgbClr val="0B1F33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738360" y="4105656"/>
            <a:ext cx="1051560" cy="118872"/>
          </a:xfrm>
          <a:prstGeom prst="rect">
            <a:avLst/>
          </a:prstGeom>
          <a:noFill/>
        </p:spPr>
        <p:txBody>
          <a:bodyPr wrap="square">
            <a:normAutofit fontScale="32500" lnSpcReduction="20000"/>
          </a:bodyPr>
          <a:lstStyle/>
          <a:p>
            <a:pPr algn="ctr"/>
            <a:r>
              <a:rPr sz="750" b="0">
                <a:solidFill>
                  <a:srgbClr val="AAB8C5"/>
                </a:solidFill>
                <a:latin typeface="Aptos"/>
              </a:rPr>
              <a:t>1–5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85800" y="4892040"/>
            <a:ext cx="10607040" cy="841248"/>
          </a:xfrm>
          <a:prstGeom prst="roundRect">
            <a:avLst/>
          </a:prstGeom>
          <a:solidFill>
            <a:srgbClr val="0E2A43"/>
          </a:solidFill>
          <a:ln w="9525"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14400" y="5138928"/>
            <a:ext cx="1508760" cy="182880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l"/>
            <a:r>
              <a:rPr sz="1050" b="1">
                <a:solidFill>
                  <a:srgbClr val="00C2A8"/>
                </a:solidFill>
                <a:latin typeface="Aptos"/>
              </a:rPr>
              <a:t>Recommended rule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23160" y="5138928"/>
            <a:ext cx="8412480" cy="20116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880" b="0">
                <a:solidFill>
                  <a:srgbClr val="EAF3FF"/>
                </a:solidFill>
                <a:latin typeface="Aptos"/>
              </a:rPr>
              <a:t>Prioritize use cases that score high on value and customer impact, medium-to-high on data readiness, low-to-medium on implementation effort, and low on risk for the first pilot.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6519672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">
                <a:solidFill>
                  <a:srgbClr val="7F8EA3"/>
                </a:solidFill>
                <a:latin typeface="Aptos"/>
              </a:rPr>
              <a:t>Springboard × Globe Telecom | Discovery questionnaire kit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20">
                <a:solidFill>
                  <a:srgbClr val="7F8EA3"/>
                </a:solidFill>
                <a:latin typeface="Aptos"/>
              </a:rPr>
              <a:t>25</a:t>
            </a:r>
          </a:p>
        </p:txBody>
      </p:sp>
      <p:pic>
        <p:nvPicPr>
          <p:cNvPr id="81" name="Picture 80" descr="Springboard | Manila">
            <a:extLst>
              <a:ext uri="{FF2B5EF4-FFF2-40B4-BE49-F238E27FC236}">
                <a16:creationId xmlns:a16="http://schemas.microsoft.com/office/drawing/2014/main" id="{A2DCCA4D-E10B-5E47-63EA-6E0EA1CA9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604" y="549656"/>
            <a:ext cx="857504" cy="857504"/>
          </a:xfrm>
          <a:prstGeom prst="rect">
            <a:avLst/>
          </a:prstGeom>
        </p:spPr>
      </p:pic>
      <p:pic>
        <p:nvPicPr>
          <p:cNvPr id="82" name="Picture 81" descr="Globe Philippines Logo">
            <a:extLst>
              <a:ext uri="{FF2B5EF4-FFF2-40B4-BE49-F238E27FC236}">
                <a16:creationId xmlns:a16="http://schemas.microsoft.com/office/drawing/2014/main" id="{3D819AAA-8CB6-7EA3-7701-2CF51CD88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914" y="537464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61120" y="0"/>
            <a:ext cx="3291840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Suggested discovery workshop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9875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AB8C5"/>
                </a:solidFill>
                <a:latin typeface="Aptos"/>
              </a:rPr>
              <a:t>A simple cadence to move from broad input to a locked pilot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1288"/>
            <a:ext cx="1417320" cy="22860"/>
          </a:xfrm>
          <a:prstGeom prst="rect">
            <a:avLst/>
          </a:prstGeom>
          <a:solidFill>
            <a:srgbClr val="2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86384" y="1481328"/>
            <a:ext cx="3154680" cy="1115568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50976" y="1645920"/>
            <a:ext cx="384048" cy="256032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687068"/>
            <a:ext cx="310896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664208"/>
            <a:ext cx="2057400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l"/>
            <a:r>
              <a:rPr sz="1120" b="1">
                <a:solidFill>
                  <a:srgbClr val="FFFFFF"/>
                </a:solidFill>
                <a:latin typeface="Aptos"/>
              </a:rPr>
              <a:t>Executive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103120"/>
            <a:ext cx="26060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90" b="0">
                <a:solidFill>
                  <a:srgbClr val="AAB8C5"/>
                </a:solidFill>
                <a:latin typeface="Aptos"/>
              </a:rPr>
              <a:t>Confirm ambition, non-negotiables, and scale criteria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4" y="1481328"/>
            <a:ext cx="3154680" cy="1115568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54296" y="1645920"/>
            <a:ext cx="384048" cy="256032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90872" y="1687068"/>
            <a:ext cx="310896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1664208"/>
            <a:ext cx="2057400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l"/>
            <a:r>
              <a:rPr sz="1120" b="1">
                <a:solidFill>
                  <a:srgbClr val="FFFFFF"/>
                </a:solidFill>
                <a:latin typeface="Aptos"/>
              </a:rPr>
              <a:t>CX journey deep dive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103120"/>
            <a:ext cx="2606040" cy="237744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l"/>
            <a:r>
              <a:rPr sz="790" b="0">
                <a:solidFill>
                  <a:srgbClr val="AAB8C5"/>
                </a:solidFill>
                <a:latin typeface="Aptos"/>
              </a:rPr>
              <a:t>Map queues, pain points, customer journeys, and operational friction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3" y="1481328"/>
            <a:ext cx="3154680" cy="1115568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57615" y="1645920"/>
            <a:ext cx="384048" cy="256032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1" y="1687068"/>
            <a:ext cx="310896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7" y="1664208"/>
            <a:ext cx="2057400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l"/>
            <a:r>
              <a:rPr sz="1120" b="1">
                <a:solidFill>
                  <a:srgbClr val="FFFFFF"/>
                </a:solidFill>
                <a:latin typeface="Aptos"/>
              </a:rPr>
              <a:t>Data and architecture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103120"/>
            <a:ext cx="2606040" cy="237744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l"/>
            <a:r>
              <a:rPr sz="790" b="0">
                <a:solidFill>
                  <a:srgbClr val="AAB8C5"/>
                </a:solidFill>
                <a:latin typeface="Aptos"/>
              </a:rPr>
              <a:t>Validate systems, data, integrations, security, and environments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" y="3108960"/>
            <a:ext cx="3154680" cy="1115568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50976" y="3273552"/>
            <a:ext cx="384048" cy="256032"/>
          </a:xfrm>
          <a:prstGeom prst="roundRect">
            <a:avLst/>
          </a:prstGeom>
          <a:solidFill>
            <a:srgbClr val="A8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3314700"/>
            <a:ext cx="310896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3291840"/>
            <a:ext cx="2057400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l"/>
            <a:r>
              <a:rPr sz="1120" b="1">
                <a:solidFill>
                  <a:srgbClr val="FFFFFF"/>
                </a:solidFill>
                <a:latin typeface="Aptos"/>
              </a:rPr>
              <a:t>Risk and controls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3730752"/>
            <a:ext cx="2606040" cy="237744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l"/>
            <a:r>
              <a:rPr sz="790" b="0">
                <a:solidFill>
                  <a:srgbClr val="AAB8C5"/>
                </a:solidFill>
                <a:latin typeface="Aptos"/>
              </a:rPr>
              <a:t>Agree privacy, audit, approval, and incident-management requirements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9704" y="3108960"/>
            <a:ext cx="3154680" cy="1115568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654296" y="3273552"/>
            <a:ext cx="384048" cy="256032"/>
          </a:xfrm>
          <a:prstGeom prst="roundRect">
            <a:avLst/>
          </a:prstGeom>
          <a:solidFill>
            <a:srgbClr val="4CD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90872" y="3314700"/>
            <a:ext cx="310896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4648" y="3291840"/>
            <a:ext cx="2057400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l"/>
            <a:r>
              <a:rPr sz="1120" b="1">
                <a:solidFill>
                  <a:srgbClr val="FFFFFF"/>
                </a:solidFill>
                <a:latin typeface="Aptos"/>
              </a:rPr>
              <a:t>Use-case prioritization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0872" y="3730752"/>
            <a:ext cx="26060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90" b="0">
                <a:solidFill>
                  <a:srgbClr val="AAB8C5"/>
                </a:solidFill>
                <a:latin typeface="Aptos"/>
              </a:rPr>
              <a:t>Score options and select pilot scope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3023" y="3108960"/>
            <a:ext cx="3154680" cy="1115568"/>
          </a:xfrm>
          <a:prstGeom prst="roundRect">
            <a:avLst/>
          </a:prstGeom>
          <a:solidFill>
            <a:srgbClr val="10263C"/>
          </a:solidFill>
          <a:ln w="9525">
            <a:solidFill>
              <a:srgbClr val="3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357615" y="3273552"/>
            <a:ext cx="384048" cy="256032"/>
          </a:xfrm>
          <a:prstGeom prst="roundRect">
            <a:avLst/>
          </a:prstGeom>
          <a:solidFill>
            <a:srgbClr val="2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94191" y="3314700"/>
            <a:ext cx="310896" cy="91440"/>
          </a:xfrm>
          <a:prstGeom prst="rect">
            <a:avLst/>
          </a:prstGeom>
          <a:noFill/>
        </p:spPr>
        <p:txBody>
          <a:bodyPr wrap="square">
            <a:normAutofit fontScale="25000" lnSpcReduction="20000"/>
          </a:bodyPr>
          <a:lstStyle/>
          <a:p>
            <a:pPr algn="ctr"/>
            <a:r>
              <a:rPr sz="67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7967" y="3291840"/>
            <a:ext cx="2057400" cy="201168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l"/>
            <a:r>
              <a:rPr sz="1120" b="1">
                <a:solidFill>
                  <a:srgbClr val="FFFFFF"/>
                </a:solidFill>
                <a:latin typeface="Aptos"/>
              </a:rPr>
              <a:t>Pilot charter readout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3730752"/>
            <a:ext cx="2606040" cy="237744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l"/>
            <a:r>
              <a:rPr sz="790" b="0">
                <a:solidFill>
                  <a:srgbClr val="AAB8C5"/>
                </a:solidFill>
                <a:latin typeface="Aptos"/>
              </a:rPr>
              <a:t>Confirm timeline, RACI, success metrics, and decisions needed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285232"/>
            <a:ext cx="10241280" cy="621792"/>
          </a:xfrm>
          <a:prstGeom prst="roundRect">
            <a:avLst/>
          </a:prstGeom>
          <a:solidFill>
            <a:srgbClr val="0B1F33"/>
          </a:solidFill>
          <a:ln w="9525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15568" y="5486400"/>
            <a:ext cx="1097280" cy="164592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 algn="l"/>
            <a:r>
              <a:rPr sz="1000" b="1">
                <a:solidFill>
                  <a:srgbClr val="FF9F43"/>
                </a:solidFill>
                <a:latin typeface="Aptos"/>
              </a:rPr>
              <a:t>Decision gate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5486400"/>
            <a:ext cx="8321040" cy="173736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l"/>
            <a:r>
              <a:rPr sz="860" b="0">
                <a:solidFill>
                  <a:srgbClr val="EAF3FF"/>
                </a:solidFill>
                <a:latin typeface="Aptos"/>
              </a:rPr>
              <a:t>At the end of discovery, Globe and Springboard should be able to name the pilot queues, users, systems, data sources, controls, and measurement approach.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519672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">
                <a:solidFill>
                  <a:srgbClr val="7F8EA3"/>
                </a:solidFill>
                <a:latin typeface="Aptos"/>
              </a:rPr>
              <a:t>Springboard × Globe Telecom | Discovery questionnaire kit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20">
                <a:solidFill>
                  <a:srgbClr val="7F8EA3"/>
                </a:solidFill>
                <a:latin typeface="Aptos"/>
              </a:rPr>
              <a:t>26</a:t>
            </a:r>
          </a:p>
        </p:txBody>
      </p:sp>
      <p:pic>
        <p:nvPicPr>
          <p:cNvPr id="41" name="Picture 40" descr="Springboard | Manila">
            <a:extLst>
              <a:ext uri="{FF2B5EF4-FFF2-40B4-BE49-F238E27FC236}">
                <a16:creationId xmlns:a16="http://schemas.microsoft.com/office/drawing/2014/main" id="{70702196-D4EC-F16F-5CC1-492001368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604" y="549656"/>
            <a:ext cx="857504" cy="857504"/>
          </a:xfrm>
          <a:prstGeom prst="rect">
            <a:avLst/>
          </a:prstGeom>
        </p:spPr>
      </p:pic>
      <p:pic>
        <p:nvPicPr>
          <p:cNvPr id="42" name="Picture 41" descr="Globe Philippines Logo">
            <a:extLst>
              <a:ext uri="{FF2B5EF4-FFF2-40B4-BE49-F238E27FC236}">
                <a16:creationId xmlns:a16="http://schemas.microsoft.com/office/drawing/2014/main" id="{720D05B5-C79D-4C05-754F-6663D42E2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914" y="537464"/>
            <a:ext cx="1306673" cy="8575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3676</Words>
  <Application>Microsoft Macintosh PowerPoint</Application>
  <PresentationFormat>Widescreen</PresentationFormat>
  <Paragraphs>646</Paragraphs>
  <Slides>26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Springboard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Pilot for CX Operations &amp; Assurance at Globe Telecom</dc:title>
  <dc:subject>AI Agent use cases for CX Operations and CX Assurance — non-technical version</dc:subject>
  <dc:creator>OpenAI</dc:creator>
  <cp:lastModifiedBy>Jake Ervin Jonathan  C. Go</cp:lastModifiedBy>
  <cp:revision>4</cp:revision>
  <dcterms:created xsi:type="dcterms:W3CDTF">2026-06-02T04:23:39Z</dcterms:created>
  <dcterms:modified xsi:type="dcterms:W3CDTF">2026-06-02T04:56:31Z</dcterms:modified>
</cp:coreProperties>
</file>